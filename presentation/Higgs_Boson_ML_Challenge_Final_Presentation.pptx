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70" r:id="rId12"/>
    <p:sldId id="269" r:id="rId13"/>
    <p:sldId id="266" r:id="rId14"/>
    <p:sldId id="267" r:id="rId15"/>
    <p:sldId id="268"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D4E313FB-4566-0079-FEBA-45AA1BACC085}">
          <p14:sldIdLst>
            <p14:sldId id="256"/>
          </p14:sldIdLst>
        </p14:section>
        <p14:section name="Background" id="{24372D56-96AC-2D36-852B-8DBEDB865DFF}">
          <p14:sldIdLst>
            <p14:sldId id="257"/>
            <p14:sldId id="258"/>
            <p14:sldId id="259"/>
            <p14:sldId id="260"/>
          </p14:sldIdLst>
        </p14:section>
        <p14:section name="Data and model" id="{C3B3F1AD-AD2A-1AA1-047E-69434CAA4CF8}">
          <p14:sldIdLst>
            <p14:sldId id="261"/>
            <p14:sldId id="262"/>
          </p14:sldIdLst>
        </p14:section>
        <p14:section name="My results" id="{8C657BCD-2219-CC65-8803-65BBCE6E8874}">
          <p14:sldIdLst>
            <p14:sldId id="263"/>
            <p14:sldId id="264"/>
            <p14:sldId id="265"/>
            <p14:sldId id="270"/>
            <p14:sldId id="269"/>
            <p14:sldId id="266"/>
            <p14:sldId id="267"/>
          </p14:sldIdLst>
        </p14:section>
        <p14:section name="Wrap-up" id="{D0AEF8BE-EABC-EF30-0A84-BCB3F07F8A44}">
          <p14:sldIdLst>
            <p14:sldId id="268"/>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7FC9A39-9270-09BB-FEB2-711829D63692}" v="6" dt="2026-10-16T01:48:36.4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804"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8710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About 30 seconds. Welcome everyone. In the next 20 minutes: what the Higgs boson is, why finding it in data is hard, how I used machine learning on the ATLAS Higgs Challenge dataset, and why physicists score models with AMS instead of just AUC.</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About 1.5 minutes. Keep this light for freshmen. The Higgs was proposed almost 50 years ago as the particle tied to how other elementary particles get mass. It was the final missing ingredient of the Standard Model. ATLAS and CMS at CERN announced the discovery in 2012; Englert and Higgs got the Nobel Prize in 2013. Analogy for the 125 GeV: a proton weighs about 1 GeV, so a Higgs is roughly 125 protons' worth of mass-energy.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About 1.5 minutes. At the Large Hadron Collider, proton bunches cross inside the ATLAS detector. A trigger system, which is itself a cascade classifier, throws away almost everything. The paper says the rate drops from 20 million to about 400 events per second, so we keep about 1 in 50,000. Even after that, most saved events are known background, which sets up the next slide.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About 1.5 minutes. This is the slide for your signal versus background graph. The paper does not include a chart of this, so insert your own: for example, a bar chart of the summed event weights for signal versus background from your dataset (df.groupby('Label')['Weight'].sum()). Use a log scale if the signal bar is too small to see, which is the whole point. The paper says signal probability is several orders of magnitude lower than background, which is why the training samples get rebalanced.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About 1.5 minutes. The signal is a Higgs decaying into two taus, where one tau becomes an electron or muon plus neutrinos and the other becomes a hadronic tau plus a neutrino. The Z boson also decays into two taus, happens much more often, and has a mass of 91.2 GeV, close enough to 125 GeV that the two are hard to separate. Neutrinos escape undetected, so the mass cannot be measured directly. Top quark pairs and W boson decays are the other two background processes in the Challenge.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About 1.5 minutes. The opendata.cern.ch version has 818,238 simulated events, merged from the original Kaggle training, public and private sets plus a withheld set. There are 30 features. PRI features are raw measurements; DER features are quantities ATLAS physicists computed from them. A value of -999.0 means the feature is undefined for that event. Weights are not features: each event's weight is its share of the expected number of real events during 2012, and the weight distributions would give away the label. EventId, Weight, Label, KaggleSet and KaggleWeight must not be fed to the classifier.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About 1.5 minutes. Walk through the pipeline left to right. I used LightGBM, a gradient boosted decision tree library, after first planning around XGBoost. Both are fast and strong on tabular data. I evaluated with ROC and AUC first, then moved to the physics metric (AMS) by choosing a cut on the model's output score. The code lives in a GitHub repo with a DataLoader class in src/ and a notebook that calls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About 2 minutes. Drop your ROC curve image into the placeholder. Explain the axes: true positive rate on the y-axis (how much real signal we catch), false positive rate on the x-axis (how much background we wrongly flag). The diagonal is a coin flip. AUC is the area under the curve: 0.5 is random, 1.0 is perfect. Weighted AUC uses the event weights, so it reflects the physics proportions; unweighted AUC treats every simulated event equally. Update the numbers on the right if your final run differs.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About 2 minutes. AUC asks how well the model ranks signal above background across every possible threshold, and it treats every event and every mistake the same. But a physicist picks one selection region and asks whether the events inside it would convince us of a discovery. That means lots of signal and very little background in that region. Because background is so abundant, a few stray background events can swamp the signal. Analogy: AUC grades a smoke detector on how well it ranks rooms by fire risk; AMS asks how it performs once you set the alarm level and count real fires against false alarms.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About 2 minutes. AMS stands for approximate median significance. In its simplest form it is s divided by the square root of b. Here s is the weighted number of true signal events (real Higgs collisions) that my model selects, and b is the weighted number of background events that sneak into the selection. The square root comes from Poisson statistics: random background fluctuates by about sqrt(b), so we compare the excess to that noise. Physicists call the result sigma; 5 sigma counts as a discovery. The Challenge used the fuller formula with a regularization term b_reg = 10 so the score does not get noisy when the selected region is tiny. The paper says the two agree when s is much smaller than b.</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About 1.5 minutes. Drop in your AMS-versus-threshold curve. Explain that as the cut gets stricter, s and b both shrink, and AMS rises and then falls once too little signal is left. The peak is the best selection region for my model. Fill in the best AMS and its threshold in the card on the right.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About 2 minutes. Show your AMS curve on the left and the reference result from the paper on the right. Point out three things: how high the peak is, where along the threshold axis it sits, and how close you get to the reference. Be upfront that the Challenge paper (the PDF) does not publish leaderboard scores, so the reference needs to come from the source you are comparing against.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About 1 minute plus questions. Three points: the problem is a needle in a haystack, AUC and AMS answer different questions, and the next step is tuning the cut and checking against published results. Then open for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txBody>
          <a:bodyPr/>
          <a:lstStyle/>
          <a:p>
            <a:endParaRPr lang="en-US"/>
          </a:p>
        </p:txBody>
      </p:sp>
      <p:sp>
        <p:nvSpPr>
          <p:cNvPr id="3" name="Text 1"/>
          <p:cNvSpPr>
            <a:spLocks noGrp="1"/>
          </p:cNvSpPr>
          <p:nvPr>
            <p:ph type="title" idx="101" hasCustomPrompt="1"/>
          </p:nvPr>
        </p:nvSpPr>
        <p:spPr>
          <a:xfrm>
            <a:off x="548640" y="822960"/>
            <a:ext cx="4937760" cy="1828800"/>
          </a:xfrm>
          <a:prstGeom prst="rect">
            <a:avLst/>
          </a:prstGeom>
          <a:noFill/>
          <a:ln/>
        </p:spPr>
        <p:txBody>
          <a:bodyPr wrap="square" rtlCol="0"/>
          <a:lstStyle>
            <a:lvl1pPr marL="0" indent="0" algn="l">
              <a:buNone/>
              <a:defRPr lang="en-US" sz="3800" b="1" dirty="0">
                <a:solidFill>
                  <a:schemeClr val="bg1"/>
                </a:solidFill>
              </a:defRPr>
            </a:lvl1pPr>
          </a:lstStyle>
          <a:p>
            <a:pPr marL="0" indent="0" algn="l">
              <a:buNone/>
            </a:pPr>
            <a:endParaRPr lang="en-US" sz="38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E">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3" name="Text 1"/>
          <p:cNvSpPr>
            <a:spLocks noGrp="1"/>
          </p:cNvSpPr>
          <p:nvPr>
            <p:ph type="title" idx="101" hasCustomPrompt="1"/>
          </p:nvPr>
        </p:nvSpPr>
        <p:spPr>
          <a:xfrm>
            <a:off x="548640" y="365760"/>
            <a:ext cx="8046720" cy="82296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822960"/>
          </a:xfrm>
          <a:prstGeom prst="rect">
            <a:avLst/>
          </a:prstGeom>
          <a:noFill/>
          <a:ln/>
        </p:spPr>
        <p:txBody>
          <a:bodyPr wrap="square" rtlCol="0"/>
          <a:lstStyle>
            <a:lvl1pPr marL="0" indent="0" algn="l">
              <a:buNone/>
              <a:defRPr lang="en-US" sz="3400" b="1" dirty="0">
                <a:solidFill>
                  <a:schemeClr val="tx1"/>
                </a:solidFill>
              </a:defRPr>
            </a:lvl1pPr>
          </a:lstStyle>
          <a:p>
            <a:pPr marL="0" indent="0" algn="l">
              <a:buNone/>
            </a:pPr>
            <a:endParaRPr lang="en-US" sz="340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822960"/>
            <a:ext cx="4937760" cy="1828800"/>
          </a:xfrm>
          <a:prstGeom prst="rect">
            <a:avLst/>
          </a:prstGeom>
          <a:noFill/>
          <a:ln/>
        </p:spPr>
        <p:txBody>
          <a:bodyPr wrap="square" lIns="0" tIns="0" rIns="0" bIns="0" rtlCol="0" anchor="t"/>
          <a:lstStyle/>
          <a:p>
            <a:pPr marL="0" indent="0" algn="l">
              <a:buNone/>
            </a:pPr>
            <a:r>
              <a:rPr lang="en-US" sz="3800" b="1">
                <a:solidFill>
                  <a:schemeClr val="bg1"/>
                </a:solidFill>
              </a:rPr>
              <a:t>Hunting the Higgs with Machine Learning</a:t>
            </a:r>
            <a:endParaRPr lang="en-US" sz="3800"/>
          </a:p>
        </p:txBody>
      </p:sp>
      <p:sp>
        <p:nvSpPr>
          <p:cNvPr id="3" name="Subtitle"/>
          <p:cNvSpPr txBox="1"/>
          <p:nvPr/>
        </p:nvSpPr>
        <p:spPr>
          <a:xfrm>
            <a:off x="548640" y="2743200"/>
            <a:ext cx="4754880" cy="822960"/>
          </a:xfrm>
          <a:prstGeom prst="rect">
            <a:avLst/>
          </a:prstGeom>
          <a:noFill/>
          <a:ln/>
        </p:spPr>
        <p:txBody>
          <a:bodyPr wrap="square" lIns="0" tIns="0" rIns="0" bIns="0" rtlCol="0" anchor="t"/>
          <a:lstStyle/>
          <a:p>
            <a:pPr marL="0" indent="0">
              <a:buNone/>
            </a:pPr>
            <a:r>
              <a:rPr lang="en-US" sz="1600">
                <a:solidFill>
                  <a:schemeClr val="accent6"/>
                </a:solidFill>
              </a:rPr>
              <a:t>What the ATLAS Higgs ML Challenge teaches us about finding a needle in a very large haystack</a:t>
            </a:r>
            <a:endParaRPr lang="en-US" sz="1600"/>
          </a:p>
        </p:txBody>
      </p:sp>
      <p:sp>
        <p:nvSpPr>
          <p:cNvPr id="4" name="Presenter line"/>
          <p:cNvSpPr txBox="1"/>
          <p:nvPr/>
        </p:nvSpPr>
        <p:spPr>
          <a:xfrm>
            <a:off x="548640" y="4297680"/>
            <a:ext cx="6858000" cy="365760"/>
          </a:xfrm>
          <a:prstGeom prst="rect">
            <a:avLst/>
          </a:prstGeom>
          <a:noFill/>
          <a:ln/>
        </p:spPr>
        <p:txBody>
          <a:bodyPr wrap="square" lIns="0" tIns="0" rIns="0" bIns="0" rtlCol="0" anchor="ctr"/>
          <a:lstStyle/>
          <a:p>
            <a:pPr marL="0" indent="0">
              <a:buNone/>
            </a:pPr>
            <a:r>
              <a:rPr lang="en-US" sz="1200">
                <a:solidFill>
                  <a:schemeClr val="accent6"/>
                </a:solidFill>
              </a:rPr>
              <a:t>Emerson  |  DATA 400 Mini-Project  </a:t>
            </a:r>
            <a:endParaRPr lang="en-US" sz="1200"/>
          </a:p>
        </p:txBody>
      </p:sp>
      <p:sp>
        <p:nvSpPr>
          <p:cNvPr id="5" name="Orbit 1"/>
          <p:cNvSpPr/>
          <p:nvPr/>
        </p:nvSpPr>
        <p:spPr>
          <a:xfrm>
            <a:off x="5394960" y="731520"/>
            <a:ext cx="3657600" cy="3657600"/>
          </a:xfrm>
          <a:prstGeom prst="ellipse">
            <a:avLst/>
          </a:prstGeom>
          <a:ln w="19050">
            <a:solidFill>
              <a:schemeClr val="accent6"/>
            </a:solidFill>
            <a:prstDash val="solid"/>
          </a:ln>
        </p:spPr>
        <p:txBody>
          <a:bodyPr/>
          <a:lstStyle/>
          <a:p>
            <a:endParaRPr lang="en-US"/>
          </a:p>
        </p:txBody>
      </p:sp>
      <p:sp>
        <p:nvSpPr>
          <p:cNvPr id="6" name="Orbit 2"/>
          <p:cNvSpPr/>
          <p:nvPr/>
        </p:nvSpPr>
        <p:spPr>
          <a:xfrm>
            <a:off x="6035040" y="1371600"/>
            <a:ext cx="2377440" cy="2377440"/>
          </a:xfrm>
          <a:prstGeom prst="ellipse">
            <a:avLst/>
          </a:prstGeom>
          <a:ln w="19050">
            <a:solidFill>
              <a:schemeClr val="accent2"/>
            </a:solidFill>
            <a:prstDash val="solid"/>
          </a:ln>
        </p:spPr>
        <p:txBody>
          <a:bodyPr/>
          <a:lstStyle/>
          <a:p>
            <a:endParaRPr lang="en-US"/>
          </a:p>
        </p:txBody>
      </p:sp>
      <p:sp>
        <p:nvSpPr>
          <p:cNvPr id="7" name="Orbit 3"/>
          <p:cNvSpPr/>
          <p:nvPr/>
        </p:nvSpPr>
        <p:spPr>
          <a:xfrm>
            <a:off x="6629400" y="1965960"/>
            <a:ext cx="1188720" cy="1188720"/>
          </a:xfrm>
          <a:prstGeom prst="ellipse">
            <a:avLst/>
          </a:prstGeom>
          <a:ln w="19050">
            <a:solidFill>
              <a:schemeClr val="accent6"/>
            </a:solidFill>
            <a:prstDash val="solid"/>
          </a:ln>
        </p:spPr>
        <p:txBody>
          <a:bodyPr/>
          <a:lstStyle/>
          <a:p>
            <a:endParaRPr lang="en-US"/>
          </a:p>
        </p:txBody>
      </p:sp>
      <p:sp>
        <p:nvSpPr>
          <p:cNvPr id="8" name="Collision point"/>
          <p:cNvSpPr/>
          <p:nvPr/>
        </p:nvSpPr>
        <p:spPr>
          <a:xfrm>
            <a:off x="7022592" y="2359152"/>
            <a:ext cx="402336" cy="402336"/>
          </a:xfrm>
          <a:prstGeom prst="ellipse">
            <a:avLst/>
          </a:prstGeom>
          <a:solidFill>
            <a:schemeClr val="accent1"/>
          </a:solidFill>
          <a:ln w="12700">
            <a:solidFill>
              <a:schemeClr val="accent1"/>
            </a:solidFill>
            <a:prstDash val="solid"/>
          </a:ln>
        </p:spPr>
        <p:txBody>
          <a:bodyPr/>
          <a:lstStyle/>
          <a:p>
            <a:endParaRPr lang="en-US"/>
          </a:p>
        </p:txBody>
      </p:sp>
      <p:sp>
        <p:nvSpPr>
          <p:cNvPr id="9" name="Particle 1"/>
          <p:cNvSpPr/>
          <p:nvPr/>
        </p:nvSpPr>
        <p:spPr>
          <a:xfrm>
            <a:off x="8321040" y="2468880"/>
            <a:ext cx="182880" cy="182880"/>
          </a:xfrm>
          <a:prstGeom prst="ellipse">
            <a:avLst/>
          </a:prstGeom>
          <a:solidFill>
            <a:schemeClr val="accent2"/>
          </a:solidFill>
          <a:ln w="12700">
            <a:solidFill>
              <a:schemeClr val="accent2"/>
            </a:solidFill>
            <a:prstDash val="solid"/>
          </a:ln>
        </p:spPr>
        <p:txBody>
          <a:bodyPr/>
          <a:lstStyle/>
          <a:p>
            <a:endParaRPr lang="en-US"/>
          </a:p>
        </p:txBody>
      </p:sp>
      <p:sp>
        <p:nvSpPr>
          <p:cNvPr id="10" name="Particle 2"/>
          <p:cNvSpPr/>
          <p:nvPr/>
        </p:nvSpPr>
        <p:spPr>
          <a:xfrm>
            <a:off x="6291072" y="1627632"/>
            <a:ext cx="182880" cy="182880"/>
          </a:xfrm>
          <a:prstGeom prst="ellipse">
            <a:avLst/>
          </a:prstGeom>
          <a:solidFill>
            <a:schemeClr val="accent2"/>
          </a:solidFill>
          <a:ln w="12700">
            <a:solidFill>
              <a:schemeClr val="accent2"/>
            </a:solidFill>
            <a:prstDash val="solid"/>
          </a:ln>
        </p:spPr>
        <p:txBody>
          <a:bodyPr/>
          <a:lstStyle/>
          <a:p>
            <a:endParaRPr lang="en-US"/>
          </a:p>
        </p:txBody>
      </p:sp>
      <p:sp>
        <p:nvSpPr>
          <p:cNvPr id="11" name="Particle 3"/>
          <p:cNvSpPr/>
          <p:nvPr/>
        </p:nvSpPr>
        <p:spPr>
          <a:xfrm>
            <a:off x="7726680" y="3502152"/>
            <a:ext cx="182880" cy="182880"/>
          </a:xfrm>
          <a:prstGeom prst="ellipse">
            <a:avLst/>
          </a:prstGeom>
          <a:solidFill>
            <a:schemeClr val="accent2"/>
          </a:solidFill>
          <a:ln w="12700">
            <a:solidFill>
              <a:schemeClr val="accent2"/>
            </a:solidFill>
            <a:prstDash val="solid"/>
          </a:ln>
        </p:spPr>
        <p:txBody>
          <a:bodyPr/>
          <a:lstStyle/>
          <a:p>
            <a:endParaRPr lang="en-US"/>
          </a:p>
        </p:txBody>
      </p:sp>
      <p:sp>
        <p:nvSpPr>
          <p:cNvPr id="12" name="Particle 4"/>
          <p:cNvSpPr/>
          <p:nvPr/>
        </p:nvSpPr>
        <p:spPr>
          <a:xfrm>
            <a:off x="5577840" y="3383280"/>
            <a:ext cx="182880" cy="182880"/>
          </a:xfrm>
          <a:prstGeom prst="ellipse">
            <a:avLst/>
          </a:prstGeom>
          <a:solidFill>
            <a:schemeClr val="accent2"/>
          </a:solidFill>
          <a:ln w="12700">
            <a:solidFill>
              <a:schemeClr val="accent2"/>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822960"/>
          </a:xfrm>
          <a:prstGeom prst="rect">
            <a:avLst/>
          </a:prstGeom>
          <a:noFill/>
          <a:ln/>
        </p:spPr>
        <p:txBody>
          <a:bodyPr wrap="square" lIns="0" tIns="0" rIns="0" bIns="0" rtlCol="0" anchor="ctr"/>
          <a:lstStyle/>
          <a:p>
            <a:pPr marL="0" indent="0" algn="l">
              <a:buNone/>
            </a:pPr>
            <a:r>
              <a:rPr lang="en-US" sz="3400" b="1">
                <a:solidFill>
                  <a:schemeClr val="tx1"/>
                </a:solidFill>
              </a:rPr>
              <a:t>What is the Higgs boson?</a:t>
            </a:r>
            <a:endParaRPr lang="en-US" sz="3400"/>
          </a:p>
        </p:txBody>
      </p:sp>
      <p:sp>
        <p:nvSpPr>
          <p:cNvPr id="4" name="Row circle 1"/>
          <p:cNvSpPr/>
          <p:nvPr/>
        </p:nvSpPr>
        <p:spPr>
          <a:xfrm>
            <a:off x="548640" y="1463040"/>
            <a:ext cx="548640" cy="548640"/>
          </a:xfrm>
          <a:prstGeom prst="ellipse">
            <a:avLst/>
          </a:prstGeom>
          <a:solidFill>
            <a:schemeClr val="accent1"/>
          </a:solidFill>
          <a:ln w="12700">
            <a:solidFill>
              <a:schemeClr val="accent1"/>
            </a:solidFill>
            <a:prstDash val="solid"/>
          </a:ln>
        </p:spPr>
        <p:txBody>
          <a:bodyPr/>
          <a:lstStyle/>
          <a:p>
            <a:endParaRPr lang="en-US"/>
          </a:p>
        </p:txBody>
      </p:sp>
      <p:sp>
        <p:nvSpPr>
          <p:cNvPr id="5" name="Row circle 1 number"/>
          <p:cNvSpPr txBox="1"/>
          <p:nvPr/>
        </p:nvSpPr>
        <p:spPr>
          <a:xfrm>
            <a:off x="548640" y="1463040"/>
            <a:ext cx="548640" cy="548640"/>
          </a:xfrm>
          <a:prstGeom prst="rect">
            <a:avLst/>
          </a:prstGeom>
          <a:noFill/>
          <a:ln/>
        </p:spPr>
        <p:txBody>
          <a:bodyPr wrap="square" lIns="0" tIns="0" rIns="0" bIns="0" rtlCol="0" anchor="ctr"/>
          <a:lstStyle/>
          <a:p>
            <a:pPr marL="0" indent="0" algn="ctr">
              <a:buNone/>
            </a:pPr>
            <a:r>
              <a:rPr lang="en-US" sz="1800" b="1">
                <a:solidFill>
                  <a:schemeClr val="tx1"/>
                </a:solidFill>
              </a:rPr>
              <a:t>1</a:t>
            </a:r>
            <a:endParaRPr lang="en-US" sz="1800"/>
          </a:p>
        </p:txBody>
      </p:sp>
      <p:sp>
        <p:nvSpPr>
          <p:cNvPr id="6" name="Row header 1"/>
          <p:cNvSpPr txBox="1"/>
          <p:nvPr/>
        </p:nvSpPr>
        <p:spPr>
          <a:xfrm>
            <a:off x="1325880" y="1371600"/>
            <a:ext cx="4023360" cy="320040"/>
          </a:xfrm>
          <a:prstGeom prst="rect">
            <a:avLst/>
          </a:prstGeom>
          <a:noFill/>
          <a:ln/>
        </p:spPr>
        <p:txBody>
          <a:bodyPr wrap="square" lIns="0" tIns="0" rIns="0" bIns="0" rtlCol="0" anchor="ctr"/>
          <a:lstStyle/>
          <a:p>
            <a:pPr marL="0" indent="0">
              <a:buNone/>
            </a:pPr>
            <a:r>
              <a:rPr lang="en-US" sz="1800" b="1">
                <a:solidFill>
                  <a:schemeClr val="tx1"/>
                </a:solidFill>
              </a:rPr>
              <a:t>A particle with a job</a:t>
            </a:r>
            <a:endParaRPr lang="en-US" sz="1800"/>
          </a:p>
        </p:txBody>
      </p:sp>
      <p:sp>
        <p:nvSpPr>
          <p:cNvPr id="7" name="Row body 1"/>
          <p:cNvSpPr txBox="1"/>
          <p:nvPr/>
        </p:nvSpPr>
        <p:spPr>
          <a:xfrm>
            <a:off x="1325880" y="1719072"/>
            <a:ext cx="4023360" cy="594360"/>
          </a:xfrm>
          <a:prstGeom prst="rect">
            <a:avLst/>
          </a:prstGeom>
          <a:noFill/>
          <a:ln/>
        </p:spPr>
        <p:txBody>
          <a:bodyPr wrap="square" lIns="0" tIns="0" rIns="0" bIns="0" rtlCol="0" anchor="t"/>
          <a:lstStyle/>
          <a:p>
            <a:pPr marL="0" indent="0">
              <a:buNone/>
            </a:pPr>
            <a:r>
              <a:rPr lang="en-US" sz="1400">
                <a:solidFill>
                  <a:schemeClr val="tx2"/>
                </a:solidFill>
              </a:rPr>
              <a:t>Proposed almost 50 years ago to explain why other elementary particles have mass.</a:t>
            </a:r>
            <a:endParaRPr lang="en-US" sz="1400"/>
          </a:p>
        </p:txBody>
      </p:sp>
      <p:sp>
        <p:nvSpPr>
          <p:cNvPr id="8" name="Row circle 2"/>
          <p:cNvSpPr/>
          <p:nvPr/>
        </p:nvSpPr>
        <p:spPr>
          <a:xfrm>
            <a:off x="548640" y="2514600"/>
            <a:ext cx="548640" cy="548640"/>
          </a:xfrm>
          <a:prstGeom prst="ellipse">
            <a:avLst/>
          </a:prstGeom>
          <a:solidFill>
            <a:schemeClr val="accent1"/>
          </a:solidFill>
          <a:ln w="12700">
            <a:solidFill>
              <a:schemeClr val="accent1"/>
            </a:solidFill>
            <a:prstDash val="solid"/>
          </a:ln>
        </p:spPr>
        <p:txBody>
          <a:bodyPr/>
          <a:lstStyle/>
          <a:p>
            <a:endParaRPr lang="en-US"/>
          </a:p>
        </p:txBody>
      </p:sp>
      <p:sp>
        <p:nvSpPr>
          <p:cNvPr id="9" name="Row circle 2 number"/>
          <p:cNvSpPr txBox="1"/>
          <p:nvPr/>
        </p:nvSpPr>
        <p:spPr>
          <a:xfrm>
            <a:off x="548640" y="2514600"/>
            <a:ext cx="548640" cy="548640"/>
          </a:xfrm>
          <a:prstGeom prst="rect">
            <a:avLst/>
          </a:prstGeom>
          <a:noFill/>
          <a:ln/>
        </p:spPr>
        <p:txBody>
          <a:bodyPr wrap="square" lIns="0" tIns="0" rIns="0" bIns="0" rtlCol="0" anchor="ctr"/>
          <a:lstStyle/>
          <a:p>
            <a:pPr marL="0" indent="0" algn="ctr">
              <a:buNone/>
            </a:pPr>
            <a:r>
              <a:rPr lang="en-US" sz="1800" b="1">
                <a:solidFill>
                  <a:schemeClr val="tx1"/>
                </a:solidFill>
              </a:rPr>
              <a:t>2</a:t>
            </a:r>
            <a:endParaRPr lang="en-US" sz="1800"/>
          </a:p>
        </p:txBody>
      </p:sp>
      <p:sp>
        <p:nvSpPr>
          <p:cNvPr id="10" name="Row header 2"/>
          <p:cNvSpPr txBox="1"/>
          <p:nvPr/>
        </p:nvSpPr>
        <p:spPr>
          <a:xfrm>
            <a:off x="1325880" y="2423160"/>
            <a:ext cx="4023360" cy="320040"/>
          </a:xfrm>
          <a:prstGeom prst="rect">
            <a:avLst/>
          </a:prstGeom>
          <a:noFill/>
          <a:ln/>
        </p:spPr>
        <p:txBody>
          <a:bodyPr wrap="square" lIns="0" tIns="0" rIns="0" bIns="0" rtlCol="0" anchor="ctr"/>
          <a:lstStyle/>
          <a:p>
            <a:pPr marL="0" indent="0">
              <a:buNone/>
            </a:pPr>
            <a:r>
              <a:rPr lang="en-US" sz="1800" b="1">
                <a:solidFill>
                  <a:schemeClr val="tx1"/>
                </a:solidFill>
              </a:rPr>
              <a:t>The last Standard Model piece</a:t>
            </a:r>
            <a:endParaRPr lang="en-US" sz="1800"/>
          </a:p>
        </p:txBody>
      </p:sp>
      <p:sp>
        <p:nvSpPr>
          <p:cNvPr id="11" name="Row body 2"/>
          <p:cNvSpPr txBox="1"/>
          <p:nvPr/>
        </p:nvSpPr>
        <p:spPr>
          <a:xfrm>
            <a:off x="1325880" y="2770632"/>
            <a:ext cx="4023360" cy="594360"/>
          </a:xfrm>
          <a:prstGeom prst="rect">
            <a:avLst/>
          </a:prstGeom>
          <a:noFill/>
          <a:ln/>
        </p:spPr>
        <p:txBody>
          <a:bodyPr wrap="square" lIns="0" tIns="0" rIns="0" bIns="0" rtlCol="0" anchor="t"/>
          <a:lstStyle/>
          <a:p>
            <a:pPr marL="0" indent="0">
              <a:buNone/>
            </a:pPr>
            <a:r>
              <a:rPr lang="en-US" sz="1400">
                <a:solidFill>
                  <a:schemeClr val="tx2"/>
                </a:solidFill>
              </a:rPr>
              <a:t>Every other ingredient had been found; the Higgs was the holdout.</a:t>
            </a:r>
            <a:endParaRPr lang="en-US" sz="1400"/>
          </a:p>
        </p:txBody>
      </p:sp>
      <p:sp>
        <p:nvSpPr>
          <p:cNvPr id="12" name="Row circle 3"/>
          <p:cNvSpPr/>
          <p:nvPr/>
        </p:nvSpPr>
        <p:spPr>
          <a:xfrm>
            <a:off x="548640" y="3566160"/>
            <a:ext cx="548640" cy="548640"/>
          </a:xfrm>
          <a:prstGeom prst="ellipse">
            <a:avLst/>
          </a:prstGeom>
          <a:solidFill>
            <a:schemeClr val="accent1"/>
          </a:solidFill>
          <a:ln w="12700">
            <a:solidFill>
              <a:schemeClr val="accent1"/>
            </a:solidFill>
            <a:prstDash val="solid"/>
          </a:ln>
        </p:spPr>
        <p:txBody>
          <a:bodyPr/>
          <a:lstStyle/>
          <a:p>
            <a:endParaRPr lang="en-US"/>
          </a:p>
        </p:txBody>
      </p:sp>
      <p:sp>
        <p:nvSpPr>
          <p:cNvPr id="13" name="Row circle 3 number"/>
          <p:cNvSpPr txBox="1"/>
          <p:nvPr/>
        </p:nvSpPr>
        <p:spPr>
          <a:xfrm>
            <a:off x="548640" y="3566160"/>
            <a:ext cx="548640" cy="548640"/>
          </a:xfrm>
          <a:prstGeom prst="rect">
            <a:avLst/>
          </a:prstGeom>
          <a:noFill/>
          <a:ln/>
        </p:spPr>
        <p:txBody>
          <a:bodyPr wrap="square" lIns="0" tIns="0" rIns="0" bIns="0" rtlCol="0" anchor="ctr"/>
          <a:lstStyle/>
          <a:p>
            <a:pPr marL="0" indent="0" algn="ctr">
              <a:buNone/>
            </a:pPr>
            <a:r>
              <a:rPr lang="en-US" sz="1800" b="1">
                <a:solidFill>
                  <a:schemeClr val="tx1"/>
                </a:solidFill>
              </a:rPr>
              <a:t>3</a:t>
            </a:r>
            <a:endParaRPr lang="en-US" sz="1800"/>
          </a:p>
        </p:txBody>
      </p:sp>
      <p:sp>
        <p:nvSpPr>
          <p:cNvPr id="14" name="Row header 3"/>
          <p:cNvSpPr txBox="1"/>
          <p:nvPr/>
        </p:nvSpPr>
        <p:spPr>
          <a:xfrm>
            <a:off x="1325880" y="3474720"/>
            <a:ext cx="4023360" cy="320040"/>
          </a:xfrm>
          <a:prstGeom prst="rect">
            <a:avLst/>
          </a:prstGeom>
          <a:noFill/>
          <a:ln/>
        </p:spPr>
        <p:txBody>
          <a:bodyPr wrap="square" lIns="0" tIns="0" rIns="0" bIns="0" rtlCol="0" anchor="ctr"/>
          <a:lstStyle/>
          <a:p>
            <a:pPr marL="0" indent="0">
              <a:buNone/>
            </a:pPr>
            <a:r>
              <a:rPr lang="en-US" sz="1800" b="1">
                <a:solidFill>
                  <a:schemeClr val="tx1"/>
                </a:solidFill>
              </a:rPr>
              <a:t>Found at CERN in 2012</a:t>
            </a:r>
            <a:endParaRPr lang="en-US" sz="1800"/>
          </a:p>
        </p:txBody>
      </p:sp>
      <p:sp>
        <p:nvSpPr>
          <p:cNvPr id="15" name="Row body 3"/>
          <p:cNvSpPr txBox="1"/>
          <p:nvPr/>
        </p:nvSpPr>
        <p:spPr>
          <a:xfrm>
            <a:off x="1325880" y="3822192"/>
            <a:ext cx="4023360" cy="594360"/>
          </a:xfrm>
          <a:prstGeom prst="rect">
            <a:avLst/>
          </a:prstGeom>
          <a:noFill/>
          <a:ln/>
        </p:spPr>
        <p:txBody>
          <a:bodyPr wrap="square" lIns="0" tIns="0" rIns="0" bIns="0" rtlCol="0" anchor="t"/>
          <a:lstStyle/>
          <a:p>
            <a:pPr marL="0" indent="0">
              <a:buNone/>
            </a:pPr>
            <a:r>
              <a:rPr lang="en-US" sz="1400">
                <a:solidFill>
                  <a:schemeClr val="tx2"/>
                </a:solidFill>
              </a:rPr>
              <a:t>ATLAS and CMS announced it; Englert and Higgs won the 2013 Nobel Prize in physics.</a:t>
            </a:r>
            <a:endParaRPr lang="en-US" sz="1400"/>
          </a:p>
        </p:txBody>
      </p:sp>
      <p:sp>
        <p:nvSpPr>
          <p:cNvPr id="16" name="Mass card"/>
          <p:cNvSpPr/>
          <p:nvPr/>
        </p:nvSpPr>
        <p:spPr>
          <a:xfrm>
            <a:off x="5669280" y="1371600"/>
            <a:ext cx="2926080" cy="3063240"/>
          </a:xfrm>
          <a:prstGeom prst="roundRect">
            <a:avLst>
              <a:gd name="adj" fmla="val 2500"/>
            </a:avLst>
          </a:prstGeom>
          <a:solidFill>
            <a:schemeClr val="tx1"/>
          </a:solidFill>
          <a:ln w="12700">
            <a:solidFill>
              <a:schemeClr val="tx1"/>
            </a:solidFill>
            <a:prstDash val="solid"/>
          </a:ln>
        </p:spPr>
        <p:txBody>
          <a:bodyPr/>
          <a:lstStyle/>
          <a:p>
            <a:endParaRPr lang="en-US"/>
          </a:p>
        </p:txBody>
      </p:sp>
      <p:sp>
        <p:nvSpPr>
          <p:cNvPr id="17" name="Mass number"/>
          <p:cNvSpPr txBox="1"/>
          <p:nvPr/>
        </p:nvSpPr>
        <p:spPr>
          <a:xfrm>
            <a:off x="5669280" y="1645920"/>
            <a:ext cx="2926080" cy="914400"/>
          </a:xfrm>
          <a:prstGeom prst="rect">
            <a:avLst/>
          </a:prstGeom>
          <a:noFill/>
          <a:ln/>
        </p:spPr>
        <p:txBody>
          <a:bodyPr wrap="square" lIns="0" tIns="0" rIns="0" bIns="0" rtlCol="0" anchor="ctr"/>
          <a:lstStyle/>
          <a:p>
            <a:pPr marL="0" indent="0" algn="ctr">
              <a:buNone/>
            </a:pPr>
            <a:r>
              <a:rPr lang="en-US" sz="4400" b="1">
                <a:solidFill>
                  <a:schemeClr val="accent1"/>
                </a:solidFill>
              </a:rPr>
              <a:t>125 GeV</a:t>
            </a:r>
            <a:endParaRPr lang="en-US" sz="4400"/>
          </a:p>
        </p:txBody>
      </p:sp>
      <p:sp>
        <p:nvSpPr>
          <p:cNvPr id="18" name="Mass caption"/>
          <p:cNvSpPr txBox="1"/>
          <p:nvPr/>
        </p:nvSpPr>
        <p:spPr>
          <a:xfrm>
            <a:off x="5897880" y="2651760"/>
            <a:ext cx="2468880" cy="1554480"/>
          </a:xfrm>
          <a:prstGeom prst="rect">
            <a:avLst/>
          </a:prstGeom>
          <a:noFill/>
          <a:ln/>
        </p:spPr>
        <p:txBody>
          <a:bodyPr wrap="square" lIns="0" tIns="0" rIns="0" bIns="0" rtlCol="0" anchor="t"/>
          <a:lstStyle/>
          <a:p>
            <a:pPr marL="0" indent="0" algn="l">
              <a:buNone/>
            </a:pPr>
            <a:r>
              <a:rPr lang="en-US" sz="1400">
                <a:solidFill>
                  <a:schemeClr val="bg1"/>
                </a:solidFill>
              </a:rPr>
              <a:t>The Higgs mass. A proton is about 1 GeV, so that is roughly 125 protons' worth of energy packed into one particle.</a:t>
            </a:r>
            <a:endParaRPr lang="en-US" sz="140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822960"/>
          </a:xfrm>
          <a:prstGeom prst="rect">
            <a:avLst/>
          </a:prstGeom>
          <a:noFill/>
          <a:ln/>
        </p:spPr>
        <p:txBody>
          <a:bodyPr wrap="square" lIns="0" tIns="0" rIns="0" bIns="0" rtlCol="0" anchor="ctr"/>
          <a:lstStyle/>
          <a:p>
            <a:pPr marL="0" indent="0" algn="l">
              <a:buNone/>
            </a:pPr>
            <a:r>
              <a:rPr lang="en-US" sz="3400" b="1">
                <a:solidFill>
                  <a:schemeClr val="tx1"/>
                </a:solidFill>
              </a:rPr>
              <a:t>Where the data comes from</a:t>
            </a:r>
            <a:endParaRPr lang="en-US" sz="3400"/>
          </a:p>
        </p:txBody>
      </p:sp>
      <p:sp>
        <p:nvSpPr>
          <p:cNvPr id="4" name="Input card"/>
          <p:cNvSpPr/>
          <p:nvPr/>
        </p:nvSpPr>
        <p:spPr>
          <a:xfrm>
            <a:off x="548640" y="1371600"/>
            <a:ext cx="3291840" cy="1828800"/>
          </a:xfrm>
          <a:prstGeom prst="roundRect">
            <a:avLst>
              <a:gd name="adj" fmla="val 4000"/>
            </a:avLst>
          </a:prstGeom>
          <a:solidFill>
            <a:schemeClr val="tx1"/>
          </a:solidFill>
          <a:ln w="12700">
            <a:solidFill>
              <a:schemeClr val="tx1"/>
            </a:solidFill>
            <a:prstDash val="solid"/>
          </a:ln>
        </p:spPr>
        <p:txBody>
          <a:bodyPr/>
          <a:lstStyle/>
          <a:p>
            <a:endParaRPr lang="en-US"/>
          </a:p>
        </p:txBody>
      </p:sp>
      <p:sp>
        <p:nvSpPr>
          <p:cNvPr id="5" name="Input number"/>
          <p:cNvSpPr txBox="1"/>
          <p:nvPr/>
        </p:nvSpPr>
        <p:spPr>
          <a:xfrm>
            <a:off x="548640" y="1554480"/>
            <a:ext cx="3291840" cy="822960"/>
          </a:xfrm>
          <a:prstGeom prst="rect">
            <a:avLst/>
          </a:prstGeom>
          <a:noFill/>
          <a:ln/>
        </p:spPr>
        <p:txBody>
          <a:bodyPr wrap="square" lIns="0" tIns="0" rIns="0" bIns="0" rtlCol="0" anchor="ctr"/>
          <a:lstStyle/>
          <a:p>
            <a:pPr marL="0" indent="0" algn="ctr">
              <a:buNone/>
            </a:pPr>
            <a:r>
              <a:rPr lang="en-US" sz="3800" b="1">
                <a:solidFill>
                  <a:schemeClr val="accent1"/>
                </a:solidFill>
              </a:rPr>
              <a:t>20,000,000</a:t>
            </a:r>
            <a:endParaRPr lang="en-US" sz="3800"/>
          </a:p>
        </p:txBody>
      </p:sp>
      <p:sp>
        <p:nvSpPr>
          <p:cNvPr id="6" name="Input label"/>
          <p:cNvSpPr txBox="1"/>
          <p:nvPr/>
        </p:nvSpPr>
        <p:spPr>
          <a:xfrm>
            <a:off x="731520" y="2423160"/>
            <a:ext cx="2926080" cy="548640"/>
          </a:xfrm>
          <a:prstGeom prst="rect">
            <a:avLst/>
          </a:prstGeom>
          <a:noFill/>
          <a:ln/>
        </p:spPr>
        <p:txBody>
          <a:bodyPr wrap="square" lIns="0" tIns="0" rIns="0" bIns="0" rtlCol="0" anchor="t"/>
          <a:lstStyle/>
          <a:p>
            <a:pPr marL="0" indent="0" algn="ctr">
              <a:buNone/>
            </a:pPr>
            <a:r>
              <a:rPr lang="en-US" sz="1400">
                <a:solidFill>
                  <a:schemeClr val="bg1"/>
                </a:solidFill>
              </a:rPr>
              <a:t>events per second reach the trigger</a:t>
            </a:r>
            <a:endParaRPr lang="en-US" sz="1400"/>
          </a:p>
        </p:txBody>
      </p:sp>
      <p:sp>
        <p:nvSpPr>
          <p:cNvPr id="7" name="Trigger arrow"/>
          <p:cNvSpPr/>
          <p:nvPr/>
        </p:nvSpPr>
        <p:spPr>
          <a:xfrm>
            <a:off x="4023360" y="1920240"/>
            <a:ext cx="1097280" cy="731520"/>
          </a:xfrm>
          <a:prstGeom prst="rightArrow">
            <a:avLst/>
          </a:prstGeom>
          <a:solidFill>
            <a:schemeClr val="accent1"/>
          </a:solidFill>
          <a:ln w="12700">
            <a:solidFill>
              <a:schemeClr val="accent1"/>
            </a:solidFill>
            <a:prstDash val="solid"/>
          </a:ln>
        </p:spPr>
        <p:txBody>
          <a:bodyPr/>
          <a:lstStyle/>
          <a:p>
            <a:endParaRPr lang="en-US"/>
          </a:p>
        </p:txBody>
      </p:sp>
      <p:sp>
        <p:nvSpPr>
          <p:cNvPr id="8" name="Trigger label"/>
          <p:cNvSpPr txBox="1"/>
          <p:nvPr/>
        </p:nvSpPr>
        <p:spPr>
          <a:xfrm>
            <a:off x="4023360" y="2697480"/>
            <a:ext cx="1097280" cy="274320"/>
          </a:xfrm>
          <a:prstGeom prst="rect">
            <a:avLst/>
          </a:prstGeom>
          <a:noFill/>
          <a:ln/>
        </p:spPr>
        <p:txBody>
          <a:bodyPr wrap="square" lIns="0" tIns="0" rIns="0" bIns="0" rtlCol="0" anchor="ctr"/>
          <a:lstStyle/>
          <a:p>
            <a:pPr marL="0" indent="0" algn="ctr">
              <a:buNone/>
            </a:pPr>
            <a:r>
              <a:rPr lang="en-US" sz="1200">
                <a:solidFill>
                  <a:schemeClr val="tx2"/>
                </a:solidFill>
              </a:rPr>
              <a:t>trigger</a:t>
            </a:r>
            <a:endParaRPr lang="en-US" sz="1200"/>
          </a:p>
        </p:txBody>
      </p:sp>
      <p:sp>
        <p:nvSpPr>
          <p:cNvPr id="9" name="Output card"/>
          <p:cNvSpPr/>
          <p:nvPr/>
        </p:nvSpPr>
        <p:spPr>
          <a:xfrm>
            <a:off x="5303520" y="1371600"/>
            <a:ext cx="3291840" cy="1828800"/>
          </a:xfrm>
          <a:prstGeom prst="roundRect">
            <a:avLst>
              <a:gd name="adj" fmla="val 4000"/>
            </a:avLst>
          </a:prstGeom>
          <a:solidFill>
            <a:schemeClr val="bg2"/>
          </a:solidFill>
          <a:ln w="12700">
            <a:solidFill>
              <a:schemeClr val="bg2"/>
            </a:solidFill>
            <a:prstDash val="solid"/>
          </a:ln>
        </p:spPr>
        <p:txBody>
          <a:bodyPr/>
          <a:lstStyle/>
          <a:p>
            <a:endParaRPr lang="en-US"/>
          </a:p>
        </p:txBody>
      </p:sp>
      <p:sp>
        <p:nvSpPr>
          <p:cNvPr id="10" name="Output number"/>
          <p:cNvSpPr txBox="1"/>
          <p:nvPr/>
        </p:nvSpPr>
        <p:spPr>
          <a:xfrm>
            <a:off x="5303520" y="1554480"/>
            <a:ext cx="3291840" cy="822960"/>
          </a:xfrm>
          <a:prstGeom prst="rect">
            <a:avLst/>
          </a:prstGeom>
          <a:noFill/>
          <a:ln/>
        </p:spPr>
        <p:txBody>
          <a:bodyPr wrap="square" lIns="0" tIns="0" rIns="0" bIns="0" rtlCol="0" anchor="ctr"/>
          <a:lstStyle/>
          <a:p>
            <a:pPr marL="0" indent="0" algn="ctr">
              <a:buNone/>
            </a:pPr>
            <a:r>
              <a:rPr lang="en-US" sz="3800" b="1">
                <a:solidFill>
                  <a:schemeClr val="tx1"/>
                </a:solidFill>
              </a:rPr>
              <a:t>400</a:t>
            </a:r>
            <a:endParaRPr lang="en-US" sz="3800"/>
          </a:p>
        </p:txBody>
      </p:sp>
      <p:sp>
        <p:nvSpPr>
          <p:cNvPr id="11" name="Output label"/>
          <p:cNvSpPr txBox="1"/>
          <p:nvPr/>
        </p:nvSpPr>
        <p:spPr>
          <a:xfrm>
            <a:off x="5486400" y="2423160"/>
            <a:ext cx="2926080" cy="548640"/>
          </a:xfrm>
          <a:prstGeom prst="rect">
            <a:avLst/>
          </a:prstGeom>
          <a:noFill/>
          <a:ln/>
        </p:spPr>
        <p:txBody>
          <a:bodyPr wrap="square" lIns="0" tIns="0" rIns="0" bIns="0" rtlCol="0" anchor="t"/>
          <a:lstStyle/>
          <a:p>
            <a:pPr marL="0" indent="0" algn="ctr">
              <a:buNone/>
            </a:pPr>
            <a:r>
              <a:rPr lang="en-US" sz="1400">
                <a:solidFill>
                  <a:schemeClr val="tx2"/>
                </a:solidFill>
              </a:rPr>
              <a:t>events per second saved to disk</a:t>
            </a:r>
            <a:endParaRPr lang="en-US" sz="1400"/>
          </a:p>
        </p:txBody>
      </p:sp>
      <p:sp>
        <p:nvSpPr>
          <p:cNvPr id="12" name="Fact number 1"/>
          <p:cNvSpPr txBox="1"/>
          <p:nvPr/>
        </p:nvSpPr>
        <p:spPr>
          <a:xfrm>
            <a:off x="548640" y="3520440"/>
            <a:ext cx="2560320" cy="548640"/>
          </a:xfrm>
          <a:prstGeom prst="rect">
            <a:avLst/>
          </a:prstGeom>
          <a:noFill/>
          <a:ln/>
        </p:spPr>
        <p:txBody>
          <a:bodyPr wrap="square" lIns="0" tIns="0" rIns="0" bIns="0" rtlCol="0" anchor="ctr"/>
          <a:lstStyle/>
          <a:p>
            <a:pPr marL="0" indent="0">
              <a:buNone/>
            </a:pPr>
            <a:r>
              <a:rPr lang="en-US" sz="2800" b="1">
                <a:solidFill>
                  <a:schemeClr val="accent1"/>
                </a:solidFill>
              </a:rPr>
              <a:t>1 in 50,000</a:t>
            </a:r>
            <a:endParaRPr lang="en-US" sz="2800"/>
          </a:p>
        </p:txBody>
      </p:sp>
      <p:sp>
        <p:nvSpPr>
          <p:cNvPr id="13" name="Fact label 1"/>
          <p:cNvSpPr txBox="1"/>
          <p:nvPr/>
        </p:nvSpPr>
        <p:spPr>
          <a:xfrm>
            <a:off x="548640" y="4069080"/>
            <a:ext cx="2560320" cy="457200"/>
          </a:xfrm>
          <a:prstGeom prst="rect">
            <a:avLst/>
          </a:prstGeom>
          <a:noFill/>
          <a:ln/>
        </p:spPr>
        <p:txBody>
          <a:bodyPr wrap="square" lIns="0" tIns="0" rIns="0" bIns="0" rtlCol="0" anchor="t"/>
          <a:lstStyle/>
          <a:p>
            <a:pPr marL="0" indent="0">
              <a:buNone/>
            </a:pPr>
            <a:r>
              <a:rPr lang="en-US" sz="1400">
                <a:solidFill>
                  <a:schemeClr val="tx2"/>
                </a:solidFill>
              </a:rPr>
              <a:t>events survive the trigger</a:t>
            </a:r>
            <a:endParaRPr lang="en-US" sz="1400"/>
          </a:p>
        </p:txBody>
      </p:sp>
      <p:sp>
        <p:nvSpPr>
          <p:cNvPr id="14" name="Fact number 2"/>
          <p:cNvSpPr txBox="1"/>
          <p:nvPr/>
        </p:nvSpPr>
        <p:spPr>
          <a:xfrm>
            <a:off x="3291840" y="3520440"/>
            <a:ext cx="2560320" cy="548640"/>
          </a:xfrm>
          <a:prstGeom prst="rect">
            <a:avLst/>
          </a:prstGeom>
          <a:noFill/>
          <a:ln/>
        </p:spPr>
        <p:txBody>
          <a:bodyPr wrap="square" lIns="0" tIns="0" rIns="0" bIns="0" rtlCol="0" anchor="ctr"/>
          <a:lstStyle/>
          <a:p>
            <a:pPr marL="0" indent="0">
              <a:buNone/>
            </a:pPr>
            <a:r>
              <a:rPr lang="en-US" sz="2800" b="1">
                <a:solidFill>
                  <a:schemeClr val="accent1"/>
                </a:solidFill>
              </a:rPr>
              <a:t>~3 PB</a:t>
            </a:r>
            <a:endParaRPr lang="en-US" sz="2800"/>
          </a:p>
        </p:txBody>
      </p:sp>
      <p:sp>
        <p:nvSpPr>
          <p:cNvPr id="15" name="Fact label 2"/>
          <p:cNvSpPr txBox="1"/>
          <p:nvPr/>
        </p:nvSpPr>
        <p:spPr>
          <a:xfrm>
            <a:off x="3291840" y="4069080"/>
            <a:ext cx="2560320" cy="457200"/>
          </a:xfrm>
          <a:prstGeom prst="rect">
            <a:avLst/>
          </a:prstGeom>
          <a:noFill/>
          <a:ln/>
        </p:spPr>
        <p:txBody>
          <a:bodyPr wrap="square" lIns="0" tIns="0" rIns="0" bIns="0" rtlCol="0" anchor="t"/>
          <a:lstStyle/>
          <a:p>
            <a:pPr marL="0" indent="0">
              <a:buNone/>
            </a:pPr>
            <a:r>
              <a:rPr lang="en-US" sz="1400">
                <a:solidFill>
                  <a:schemeClr val="tx2"/>
                </a:solidFill>
              </a:rPr>
              <a:t>of raw data saved per year</a:t>
            </a:r>
            <a:endParaRPr lang="en-US" sz="1400"/>
          </a:p>
        </p:txBody>
      </p:sp>
      <p:sp>
        <p:nvSpPr>
          <p:cNvPr id="16" name="Fact number 3"/>
          <p:cNvSpPr txBox="1"/>
          <p:nvPr/>
        </p:nvSpPr>
        <p:spPr>
          <a:xfrm>
            <a:off x="6035040" y="3520440"/>
            <a:ext cx="2560320" cy="548640"/>
          </a:xfrm>
          <a:prstGeom prst="rect">
            <a:avLst/>
          </a:prstGeom>
          <a:noFill/>
          <a:ln/>
        </p:spPr>
        <p:txBody>
          <a:bodyPr wrap="square" lIns="0" tIns="0" rIns="0" bIns="0" rtlCol="0" anchor="ctr"/>
          <a:lstStyle/>
          <a:p>
            <a:pPr marL="0" indent="0">
              <a:buNone/>
            </a:pPr>
            <a:r>
              <a:rPr lang="en-US" sz="2800" b="1">
                <a:solidFill>
                  <a:schemeClr val="accent1"/>
                </a:solidFill>
              </a:rPr>
              <a:t>~10</a:t>
            </a:r>
            <a:endParaRPr lang="en-US" sz="2800"/>
          </a:p>
        </p:txBody>
      </p:sp>
      <p:sp>
        <p:nvSpPr>
          <p:cNvPr id="17" name="Fact label 3"/>
          <p:cNvSpPr txBox="1"/>
          <p:nvPr/>
        </p:nvSpPr>
        <p:spPr>
          <a:xfrm>
            <a:off x="6035040" y="4069080"/>
            <a:ext cx="2560320" cy="457200"/>
          </a:xfrm>
          <a:prstGeom prst="rect">
            <a:avLst/>
          </a:prstGeom>
          <a:noFill/>
          <a:ln/>
        </p:spPr>
        <p:txBody>
          <a:bodyPr wrap="square" lIns="0" tIns="0" rIns="0" bIns="0" rtlCol="0" anchor="t"/>
          <a:lstStyle/>
          <a:p>
            <a:pPr marL="0" indent="0">
              <a:buNone/>
            </a:pPr>
            <a:r>
              <a:rPr lang="en-US" sz="1400">
                <a:solidFill>
                  <a:schemeClr val="tx2"/>
                </a:solidFill>
              </a:rPr>
              <a:t>particles of interest per event</a:t>
            </a:r>
            <a:endParaRPr lang="en-US" sz="140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822960"/>
          </a:xfrm>
          <a:prstGeom prst="rect">
            <a:avLst/>
          </a:prstGeom>
          <a:noFill/>
          <a:ln/>
        </p:spPr>
        <p:txBody>
          <a:bodyPr wrap="square" lIns="0" tIns="0" rIns="0" bIns="0" rtlCol="0" anchor="ctr"/>
          <a:lstStyle/>
          <a:p>
            <a:pPr marL="0" indent="0" algn="l">
              <a:buNone/>
            </a:pPr>
            <a:r>
              <a:rPr lang="en-US" sz="3400" b="1">
                <a:solidFill>
                  <a:schemeClr val="tx1"/>
                </a:solidFill>
              </a:rPr>
              <a:t>A needle in a haystack</a:t>
            </a:r>
            <a:endParaRPr lang="en-US" sz="3400"/>
          </a:p>
        </p:txBody>
      </p:sp>
      <p:sp>
        <p:nvSpPr>
          <p:cNvPr id="6" name="Signal header"/>
          <p:cNvSpPr txBox="1"/>
          <p:nvPr/>
        </p:nvSpPr>
        <p:spPr>
          <a:xfrm>
            <a:off x="5852160" y="1371600"/>
            <a:ext cx="2743200" cy="320040"/>
          </a:xfrm>
          <a:prstGeom prst="rect">
            <a:avLst/>
          </a:prstGeom>
          <a:noFill/>
          <a:ln/>
        </p:spPr>
        <p:txBody>
          <a:bodyPr wrap="square" lIns="0" tIns="0" rIns="0" bIns="0" rtlCol="0" anchor="ctr"/>
          <a:lstStyle/>
          <a:p>
            <a:pPr marL="0" indent="0">
              <a:buNone/>
            </a:pPr>
            <a:r>
              <a:rPr lang="en-US" sz="1800" b="1">
                <a:solidFill>
                  <a:schemeClr val="accent1"/>
                </a:solidFill>
              </a:rPr>
              <a:t>Signal</a:t>
            </a:r>
            <a:endParaRPr lang="en-US" sz="1800"/>
          </a:p>
        </p:txBody>
      </p:sp>
      <p:sp>
        <p:nvSpPr>
          <p:cNvPr id="7" name="Signal text"/>
          <p:cNvSpPr txBox="1"/>
          <p:nvPr/>
        </p:nvSpPr>
        <p:spPr>
          <a:xfrm>
            <a:off x="5852160" y="1719072"/>
            <a:ext cx="2743200" cy="594360"/>
          </a:xfrm>
          <a:prstGeom prst="rect">
            <a:avLst/>
          </a:prstGeom>
          <a:noFill/>
          <a:ln/>
        </p:spPr>
        <p:txBody>
          <a:bodyPr wrap="square" lIns="0" tIns="0" rIns="0" bIns="0" rtlCol="0" anchor="t"/>
          <a:lstStyle/>
          <a:p>
            <a:pPr marL="0" indent="0">
              <a:buNone/>
            </a:pPr>
            <a:r>
              <a:rPr lang="en-US" sz="1400">
                <a:solidFill>
                  <a:schemeClr val="tx2"/>
                </a:solidFill>
              </a:rPr>
              <a:t>A Higgs boson decaying into two tau particles.</a:t>
            </a:r>
            <a:endParaRPr lang="en-US" sz="1400"/>
          </a:p>
        </p:txBody>
      </p:sp>
      <p:sp>
        <p:nvSpPr>
          <p:cNvPr id="8" name="Background header"/>
          <p:cNvSpPr txBox="1"/>
          <p:nvPr/>
        </p:nvSpPr>
        <p:spPr>
          <a:xfrm>
            <a:off x="5852160" y="2468880"/>
            <a:ext cx="2743200" cy="320040"/>
          </a:xfrm>
          <a:prstGeom prst="rect">
            <a:avLst/>
          </a:prstGeom>
          <a:noFill/>
          <a:ln/>
        </p:spPr>
        <p:txBody>
          <a:bodyPr wrap="square" lIns="0" tIns="0" rIns="0" bIns="0" rtlCol="0" anchor="ctr"/>
          <a:lstStyle/>
          <a:p>
            <a:pPr marL="0" indent="0">
              <a:buNone/>
            </a:pPr>
            <a:r>
              <a:rPr lang="en-US" sz="1800" b="1">
                <a:solidFill>
                  <a:schemeClr val="tx1"/>
                </a:solidFill>
              </a:rPr>
              <a:t>Background</a:t>
            </a:r>
            <a:endParaRPr lang="en-US" sz="1800"/>
          </a:p>
        </p:txBody>
      </p:sp>
      <p:sp>
        <p:nvSpPr>
          <p:cNvPr id="9" name="Background text"/>
          <p:cNvSpPr txBox="1"/>
          <p:nvPr/>
        </p:nvSpPr>
        <p:spPr>
          <a:xfrm>
            <a:off x="5852160" y="2816352"/>
            <a:ext cx="2743200" cy="594360"/>
          </a:xfrm>
          <a:prstGeom prst="rect">
            <a:avLst/>
          </a:prstGeom>
          <a:noFill/>
          <a:ln/>
        </p:spPr>
        <p:txBody>
          <a:bodyPr wrap="square" lIns="0" tIns="0" rIns="0" bIns="0" rtlCol="0" anchor="t"/>
          <a:lstStyle/>
          <a:p>
            <a:pPr marL="0" indent="0">
              <a:buNone/>
            </a:pPr>
            <a:r>
              <a:rPr lang="en-US" sz="1400">
                <a:solidFill>
                  <a:schemeClr val="tx2"/>
                </a:solidFill>
              </a:rPr>
              <a:t>Known processes that leave a similar fingerprint in the detector.</a:t>
            </a:r>
            <a:endParaRPr lang="en-US" sz="1400"/>
          </a:p>
        </p:txBody>
      </p:sp>
      <p:sp>
        <p:nvSpPr>
          <p:cNvPr id="10" name="Rarity callout"/>
          <p:cNvSpPr/>
          <p:nvPr/>
        </p:nvSpPr>
        <p:spPr>
          <a:xfrm>
            <a:off x="5852160" y="3611880"/>
            <a:ext cx="2743200" cy="868680"/>
          </a:xfrm>
          <a:prstGeom prst="roundRect">
            <a:avLst>
              <a:gd name="adj" fmla="val 8421"/>
            </a:avLst>
          </a:prstGeom>
          <a:solidFill>
            <a:schemeClr val="tx1"/>
          </a:solidFill>
          <a:ln w="12700">
            <a:solidFill>
              <a:schemeClr val="tx1"/>
            </a:solidFill>
            <a:prstDash val="solid"/>
          </a:ln>
        </p:spPr>
        <p:txBody>
          <a:bodyPr/>
          <a:lstStyle/>
          <a:p>
            <a:endParaRPr lang="en-US"/>
          </a:p>
        </p:txBody>
      </p:sp>
      <p:sp>
        <p:nvSpPr>
          <p:cNvPr id="11" name="Rarity text"/>
          <p:cNvSpPr txBox="1"/>
          <p:nvPr/>
        </p:nvSpPr>
        <p:spPr>
          <a:xfrm>
            <a:off x="5989320" y="3611880"/>
            <a:ext cx="2468880" cy="868680"/>
          </a:xfrm>
          <a:prstGeom prst="rect">
            <a:avLst/>
          </a:prstGeom>
          <a:noFill/>
          <a:ln/>
        </p:spPr>
        <p:txBody>
          <a:bodyPr wrap="square" lIns="0" tIns="0" rIns="0" bIns="0" rtlCol="0" anchor="ctr"/>
          <a:lstStyle/>
          <a:p>
            <a:pPr marL="0" indent="0">
              <a:buNone/>
            </a:pPr>
            <a:r>
              <a:rPr lang="en-US" sz="1400" b="1">
                <a:solidFill>
                  <a:schemeClr val="bg1"/>
                </a:solidFill>
              </a:rPr>
              <a:t>Signal is much rarer than background.</a:t>
            </a:r>
            <a:endParaRPr lang="en-US" sz="140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4</a:t>
            </a:fld>
            <a:endParaRPr lang="en-US"/>
          </a:p>
        </p:txBody>
      </p:sp>
      <p:pic>
        <p:nvPicPr>
          <p:cNvPr id="12" name="Picture 11">
            <a:extLst>
              <a:ext uri="{FF2B5EF4-FFF2-40B4-BE49-F238E27FC236}">
                <a16:creationId xmlns:a16="http://schemas.microsoft.com/office/drawing/2014/main" id="{EC729565-B7A7-4CCE-DFC7-ECAE7BE54A45}"/>
              </a:ext>
            </a:extLst>
          </p:cNvPr>
          <p:cNvPicPr>
            <a:picLocks noChangeAspect="1"/>
          </p:cNvPicPr>
          <p:nvPr/>
        </p:nvPicPr>
        <p:blipFill>
          <a:blip r:embed="rId3"/>
          <a:stretch>
            <a:fillRect/>
          </a:stretch>
        </p:blipFill>
        <p:spPr>
          <a:xfrm>
            <a:off x="355212" y="954608"/>
            <a:ext cx="5038482" cy="1782847"/>
          </a:xfrm>
          <a:prstGeom prst="rect">
            <a:avLst/>
          </a:prstGeom>
        </p:spPr>
      </p:pic>
      <p:pic>
        <p:nvPicPr>
          <p:cNvPr id="3" name="Picture 2">
            <a:extLst>
              <a:ext uri="{FF2B5EF4-FFF2-40B4-BE49-F238E27FC236}">
                <a16:creationId xmlns:a16="http://schemas.microsoft.com/office/drawing/2014/main" id="{882403EA-E9AB-5ACA-F427-9C963F5B7611}"/>
              </a:ext>
            </a:extLst>
          </p:cNvPr>
          <p:cNvPicPr>
            <a:picLocks noChangeAspect="1"/>
          </p:cNvPicPr>
          <p:nvPr/>
        </p:nvPicPr>
        <p:blipFill>
          <a:blip r:embed="rId4"/>
          <a:stretch>
            <a:fillRect/>
          </a:stretch>
        </p:blipFill>
        <p:spPr>
          <a:xfrm>
            <a:off x="1212870" y="2818555"/>
            <a:ext cx="3007127" cy="224814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822960"/>
          </a:xfrm>
          <a:prstGeom prst="rect">
            <a:avLst/>
          </a:prstGeom>
          <a:noFill/>
          <a:ln/>
        </p:spPr>
        <p:txBody>
          <a:bodyPr wrap="square" lIns="0" tIns="0" rIns="0" bIns="0" rtlCol="0" anchor="ctr"/>
          <a:lstStyle/>
          <a:p>
            <a:pPr marL="0" indent="0" algn="l">
              <a:buNone/>
            </a:pPr>
            <a:r>
              <a:rPr lang="en-US" sz="3400" b="1">
                <a:solidFill>
                  <a:schemeClr val="tx1"/>
                </a:solidFill>
              </a:rPr>
              <a:t>The signal and its look-alikes</a:t>
            </a:r>
            <a:endParaRPr lang="en-US" sz="3400"/>
          </a:p>
        </p:txBody>
      </p:sp>
      <p:sp>
        <p:nvSpPr>
          <p:cNvPr id="4" name="Signal card"/>
          <p:cNvSpPr/>
          <p:nvPr/>
        </p:nvSpPr>
        <p:spPr>
          <a:xfrm>
            <a:off x="548640" y="1371600"/>
            <a:ext cx="2926080" cy="3108960"/>
          </a:xfrm>
          <a:prstGeom prst="roundRect">
            <a:avLst>
              <a:gd name="adj" fmla="val 2500"/>
            </a:avLst>
          </a:prstGeom>
          <a:solidFill>
            <a:schemeClr val="tx1"/>
          </a:solidFill>
          <a:ln w="12700">
            <a:solidFill>
              <a:schemeClr val="tx1"/>
            </a:solidFill>
            <a:prstDash val="solid"/>
          </a:ln>
        </p:spPr>
        <p:txBody>
          <a:bodyPr/>
          <a:lstStyle/>
          <a:p>
            <a:endParaRPr lang="en-US"/>
          </a:p>
        </p:txBody>
      </p:sp>
      <p:sp>
        <p:nvSpPr>
          <p:cNvPr id="5" name="Signal tag"/>
          <p:cNvSpPr txBox="1"/>
          <p:nvPr/>
        </p:nvSpPr>
        <p:spPr>
          <a:xfrm>
            <a:off x="777240" y="1554480"/>
            <a:ext cx="2468880" cy="274320"/>
          </a:xfrm>
          <a:prstGeom prst="rect">
            <a:avLst/>
          </a:prstGeom>
          <a:noFill/>
          <a:ln/>
        </p:spPr>
        <p:txBody>
          <a:bodyPr wrap="square" lIns="0" tIns="0" rIns="0" bIns="0" rtlCol="0" anchor="ctr"/>
          <a:lstStyle/>
          <a:p>
            <a:pPr marL="0" indent="0">
              <a:buNone/>
            </a:pPr>
            <a:r>
              <a:rPr lang="en-US" sz="1200" b="1">
                <a:solidFill>
                  <a:schemeClr val="accent6"/>
                </a:solidFill>
              </a:rPr>
              <a:t>THE SIGNAL</a:t>
            </a:r>
            <a:endParaRPr lang="en-US" sz="1200"/>
          </a:p>
        </p:txBody>
      </p:sp>
      <p:sp>
        <p:nvSpPr>
          <p:cNvPr id="6" name="Signal decay"/>
          <p:cNvSpPr txBox="1"/>
          <p:nvPr/>
        </p:nvSpPr>
        <p:spPr>
          <a:xfrm>
            <a:off x="777240" y="1828800"/>
            <a:ext cx="2468880" cy="731520"/>
          </a:xfrm>
          <a:prstGeom prst="rect">
            <a:avLst/>
          </a:prstGeom>
          <a:noFill/>
          <a:ln/>
        </p:spPr>
        <p:txBody>
          <a:bodyPr wrap="square" lIns="0" tIns="0" rIns="0" bIns="0" rtlCol="0" anchor="ctr"/>
          <a:lstStyle/>
          <a:p>
            <a:pPr marL="0" indent="0">
              <a:buNone/>
            </a:pPr>
            <a:r>
              <a:rPr lang="en-US" sz="4000" b="1">
                <a:solidFill>
                  <a:schemeClr val="accent1"/>
                </a:solidFill>
              </a:rPr>
              <a:t>H → ττ</a:t>
            </a:r>
            <a:endParaRPr lang="en-US" sz="4000"/>
          </a:p>
        </p:txBody>
      </p:sp>
      <p:sp>
        <p:nvSpPr>
          <p:cNvPr id="7" name="Signal desc"/>
          <p:cNvSpPr txBox="1"/>
          <p:nvPr/>
        </p:nvSpPr>
        <p:spPr>
          <a:xfrm>
            <a:off x="777240" y="2606040"/>
            <a:ext cx="2468880" cy="685800"/>
          </a:xfrm>
          <a:prstGeom prst="rect">
            <a:avLst/>
          </a:prstGeom>
          <a:noFill/>
          <a:ln/>
        </p:spPr>
        <p:txBody>
          <a:bodyPr wrap="square" lIns="0" tIns="0" rIns="0" bIns="0" rtlCol="0" anchor="t"/>
          <a:lstStyle/>
          <a:p>
            <a:pPr marL="0" indent="0">
              <a:buNone/>
            </a:pPr>
            <a:r>
              <a:rPr lang="en-US" sz="1400">
                <a:solidFill>
                  <a:schemeClr val="bg1"/>
                </a:solidFill>
              </a:rPr>
              <a:t>A Higgs (125 GeV) decays into two tau leptons.</a:t>
            </a:r>
            <a:endParaRPr lang="en-US" sz="1400"/>
          </a:p>
        </p:txBody>
      </p:sp>
      <p:sp>
        <p:nvSpPr>
          <p:cNvPr id="8" name="Signal note"/>
          <p:cNvSpPr txBox="1"/>
          <p:nvPr/>
        </p:nvSpPr>
        <p:spPr>
          <a:xfrm>
            <a:off x="777240" y="3429000"/>
            <a:ext cx="2468880" cy="914400"/>
          </a:xfrm>
          <a:prstGeom prst="rect">
            <a:avLst/>
          </a:prstGeom>
          <a:noFill/>
          <a:ln/>
        </p:spPr>
        <p:txBody>
          <a:bodyPr wrap="square" lIns="0" tIns="0" rIns="0" bIns="0" rtlCol="0" anchor="t"/>
          <a:lstStyle/>
          <a:p>
            <a:pPr marL="0" indent="0">
              <a:buNone/>
            </a:pPr>
            <a:r>
              <a:rPr lang="en-US" sz="1400">
                <a:solidFill>
                  <a:schemeClr val="accent6"/>
                </a:solidFill>
              </a:rPr>
              <a:t>Neutrinos escape the detector, so we can't weigh each Higgs directly.</a:t>
            </a:r>
            <a:endParaRPr lang="en-US" sz="1400"/>
          </a:p>
        </p:txBody>
      </p:sp>
      <p:sp>
        <p:nvSpPr>
          <p:cNvPr id="9" name="Impostor card 1"/>
          <p:cNvSpPr/>
          <p:nvPr/>
        </p:nvSpPr>
        <p:spPr>
          <a:xfrm>
            <a:off x="3749040" y="1371600"/>
            <a:ext cx="4846320" cy="914400"/>
          </a:xfrm>
          <a:prstGeom prst="roundRect">
            <a:avLst>
              <a:gd name="adj" fmla="val 8000"/>
            </a:avLst>
          </a:prstGeom>
          <a:solidFill>
            <a:schemeClr val="bg2"/>
          </a:solidFill>
          <a:ln w="12700">
            <a:solidFill>
              <a:schemeClr val="bg2"/>
            </a:solidFill>
            <a:prstDash val="solid"/>
          </a:ln>
        </p:spPr>
        <p:txBody>
          <a:bodyPr/>
          <a:lstStyle/>
          <a:p>
            <a:endParaRPr lang="en-US"/>
          </a:p>
        </p:txBody>
      </p:sp>
      <p:sp>
        <p:nvSpPr>
          <p:cNvPr id="10" name="Impostor circle 1"/>
          <p:cNvSpPr/>
          <p:nvPr/>
        </p:nvSpPr>
        <p:spPr>
          <a:xfrm>
            <a:off x="3931920" y="1600200"/>
            <a:ext cx="457200" cy="457200"/>
          </a:xfrm>
          <a:prstGeom prst="ellipse">
            <a:avLst/>
          </a:prstGeom>
          <a:solidFill>
            <a:schemeClr val="accent2"/>
          </a:solidFill>
          <a:ln w="12700">
            <a:solidFill>
              <a:schemeClr val="accent2"/>
            </a:solidFill>
            <a:prstDash val="solid"/>
          </a:ln>
        </p:spPr>
        <p:txBody>
          <a:bodyPr/>
          <a:lstStyle/>
          <a:p>
            <a:endParaRPr lang="en-US"/>
          </a:p>
        </p:txBody>
      </p:sp>
      <p:sp>
        <p:nvSpPr>
          <p:cNvPr id="11" name="Impostor circle 1 number"/>
          <p:cNvSpPr txBox="1"/>
          <p:nvPr/>
        </p:nvSpPr>
        <p:spPr>
          <a:xfrm>
            <a:off x="3931920" y="1600200"/>
            <a:ext cx="457200" cy="457200"/>
          </a:xfrm>
          <a:prstGeom prst="rect">
            <a:avLst/>
          </a:prstGeom>
          <a:noFill/>
          <a:ln/>
        </p:spPr>
        <p:txBody>
          <a:bodyPr wrap="square" lIns="0" tIns="0" rIns="0" bIns="0" rtlCol="0" anchor="ctr"/>
          <a:lstStyle/>
          <a:p>
            <a:pPr marL="0" indent="0" algn="ctr">
              <a:buNone/>
            </a:pPr>
            <a:r>
              <a:rPr lang="en-US" sz="1800" b="1">
                <a:solidFill>
                  <a:schemeClr val="tx1"/>
                </a:solidFill>
              </a:rPr>
              <a:t>1</a:t>
            </a:r>
            <a:endParaRPr lang="en-US" sz="1800"/>
          </a:p>
        </p:txBody>
      </p:sp>
      <p:sp>
        <p:nvSpPr>
          <p:cNvPr id="12" name="Impostor name 1"/>
          <p:cNvSpPr txBox="1"/>
          <p:nvPr/>
        </p:nvSpPr>
        <p:spPr>
          <a:xfrm>
            <a:off x="4572000" y="1444752"/>
            <a:ext cx="3931920" cy="292608"/>
          </a:xfrm>
          <a:prstGeom prst="rect">
            <a:avLst/>
          </a:prstGeom>
          <a:noFill/>
          <a:ln/>
        </p:spPr>
        <p:txBody>
          <a:bodyPr wrap="square" lIns="0" tIns="0" rIns="0" bIns="0" rtlCol="0" anchor="ctr"/>
          <a:lstStyle/>
          <a:p>
            <a:pPr marL="0" indent="0">
              <a:buNone/>
            </a:pPr>
            <a:r>
              <a:rPr lang="en-US" sz="1600" b="1">
                <a:solidFill>
                  <a:schemeClr val="tx1"/>
                </a:solidFill>
              </a:rPr>
              <a:t>Z boson to two taus</a:t>
            </a:r>
            <a:endParaRPr lang="en-US" sz="1600"/>
          </a:p>
        </p:txBody>
      </p:sp>
      <p:sp>
        <p:nvSpPr>
          <p:cNvPr id="13" name="Impostor desc 1"/>
          <p:cNvSpPr txBox="1"/>
          <p:nvPr/>
        </p:nvSpPr>
        <p:spPr>
          <a:xfrm>
            <a:off x="4572000" y="1737360"/>
            <a:ext cx="3931920" cy="502920"/>
          </a:xfrm>
          <a:prstGeom prst="rect">
            <a:avLst/>
          </a:prstGeom>
          <a:noFill/>
          <a:ln/>
        </p:spPr>
        <p:txBody>
          <a:bodyPr wrap="square" lIns="0" tIns="0" rIns="0" bIns="0" rtlCol="0" anchor="t"/>
          <a:lstStyle/>
          <a:p>
            <a:pPr marL="0" indent="0">
              <a:buNone/>
            </a:pPr>
            <a:r>
              <a:rPr lang="en-US" sz="1400">
                <a:solidFill>
                  <a:schemeClr val="tx2"/>
                </a:solidFill>
              </a:rPr>
              <a:t>Mass 91.2 GeV, close to the Higgs and far more common. The toughest look-alike.</a:t>
            </a:r>
            <a:endParaRPr lang="en-US" sz="1400"/>
          </a:p>
        </p:txBody>
      </p:sp>
      <p:sp>
        <p:nvSpPr>
          <p:cNvPr id="14" name="Impostor card 2"/>
          <p:cNvSpPr/>
          <p:nvPr/>
        </p:nvSpPr>
        <p:spPr>
          <a:xfrm>
            <a:off x="3749040" y="2441448"/>
            <a:ext cx="4846320" cy="914400"/>
          </a:xfrm>
          <a:prstGeom prst="roundRect">
            <a:avLst>
              <a:gd name="adj" fmla="val 8000"/>
            </a:avLst>
          </a:prstGeom>
          <a:solidFill>
            <a:schemeClr val="bg2"/>
          </a:solidFill>
          <a:ln w="12700">
            <a:solidFill>
              <a:schemeClr val="bg2"/>
            </a:solidFill>
            <a:prstDash val="solid"/>
          </a:ln>
        </p:spPr>
        <p:txBody>
          <a:bodyPr/>
          <a:lstStyle/>
          <a:p>
            <a:endParaRPr lang="en-US"/>
          </a:p>
        </p:txBody>
      </p:sp>
      <p:sp>
        <p:nvSpPr>
          <p:cNvPr id="15" name="Impostor circle 2"/>
          <p:cNvSpPr/>
          <p:nvPr/>
        </p:nvSpPr>
        <p:spPr>
          <a:xfrm>
            <a:off x="3931920" y="2670048"/>
            <a:ext cx="457200" cy="457200"/>
          </a:xfrm>
          <a:prstGeom prst="ellipse">
            <a:avLst/>
          </a:prstGeom>
          <a:solidFill>
            <a:schemeClr val="accent2"/>
          </a:solidFill>
          <a:ln w="12700">
            <a:solidFill>
              <a:schemeClr val="accent2"/>
            </a:solidFill>
            <a:prstDash val="solid"/>
          </a:ln>
        </p:spPr>
        <p:txBody>
          <a:bodyPr/>
          <a:lstStyle/>
          <a:p>
            <a:endParaRPr lang="en-US"/>
          </a:p>
        </p:txBody>
      </p:sp>
      <p:sp>
        <p:nvSpPr>
          <p:cNvPr id="16" name="Impostor circle 2 number"/>
          <p:cNvSpPr txBox="1"/>
          <p:nvPr/>
        </p:nvSpPr>
        <p:spPr>
          <a:xfrm>
            <a:off x="3931920" y="2670048"/>
            <a:ext cx="457200" cy="457200"/>
          </a:xfrm>
          <a:prstGeom prst="rect">
            <a:avLst/>
          </a:prstGeom>
          <a:noFill/>
          <a:ln/>
        </p:spPr>
        <p:txBody>
          <a:bodyPr wrap="square" lIns="0" tIns="0" rIns="0" bIns="0" rtlCol="0" anchor="ctr"/>
          <a:lstStyle/>
          <a:p>
            <a:pPr marL="0" indent="0" algn="ctr">
              <a:buNone/>
            </a:pPr>
            <a:r>
              <a:rPr lang="en-US" sz="1800" b="1">
                <a:solidFill>
                  <a:schemeClr val="tx1"/>
                </a:solidFill>
              </a:rPr>
              <a:t>2</a:t>
            </a:r>
            <a:endParaRPr lang="en-US" sz="1800"/>
          </a:p>
        </p:txBody>
      </p:sp>
      <p:sp>
        <p:nvSpPr>
          <p:cNvPr id="17" name="Impostor name 2"/>
          <p:cNvSpPr txBox="1"/>
          <p:nvPr/>
        </p:nvSpPr>
        <p:spPr>
          <a:xfrm>
            <a:off x="4572000" y="2514600"/>
            <a:ext cx="3931920" cy="292608"/>
          </a:xfrm>
          <a:prstGeom prst="rect">
            <a:avLst/>
          </a:prstGeom>
          <a:noFill/>
          <a:ln/>
        </p:spPr>
        <p:txBody>
          <a:bodyPr wrap="square" lIns="0" tIns="0" rIns="0" bIns="0" rtlCol="0" anchor="ctr"/>
          <a:lstStyle/>
          <a:p>
            <a:pPr marL="0" indent="0">
              <a:buNone/>
            </a:pPr>
            <a:r>
              <a:rPr lang="en-US" sz="1600" b="1">
                <a:solidFill>
                  <a:schemeClr val="tx1"/>
                </a:solidFill>
              </a:rPr>
              <a:t>Top quark pairs</a:t>
            </a:r>
            <a:endParaRPr lang="en-US" sz="1600"/>
          </a:p>
        </p:txBody>
      </p:sp>
      <p:sp>
        <p:nvSpPr>
          <p:cNvPr id="18" name="Impostor desc 2"/>
          <p:cNvSpPr txBox="1"/>
          <p:nvPr/>
        </p:nvSpPr>
        <p:spPr>
          <a:xfrm>
            <a:off x="4572000" y="2807208"/>
            <a:ext cx="3931920" cy="502920"/>
          </a:xfrm>
          <a:prstGeom prst="rect">
            <a:avLst/>
          </a:prstGeom>
          <a:noFill/>
          <a:ln/>
        </p:spPr>
        <p:txBody>
          <a:bodyPr wrap="square" lIns="0" tIns="0" rIns="0" bIns="0" rtlCol="0" anchor="t"/>
          <a:lstStyle/>
          <a:p>
            <a:pPr marL="0" indent="0">
              <a:buNone/>
            </a:pPr>
            <a:r>
              <a:rPr lang="en-US" sz="1400">
                <a:solidFill>
                  <a:schemeClr val="tx2"/>
                </a:solidFill>
              </a:rPr>
              <a:t>Their decays can also leave a lepton and a hadronic tau.</a:t>
            </a:r>
            <a:endParaRPr lang="en-US" sz="1400"/>
          </a:p>
        </p:txBody>
      </p:sp>
      <p:sp>
        <p:nvSpPr>
          <p:cNvPr id="19" name="Impostor card 3"/>
          <p:cNvSpPr/>
          <p:nvPr/>
        </p:nvSpPr>
        <p:spPr>
          <a:xfrm>
            <a:off x="3749040" y="3511296"/>
            <a:ext cx="4846320" cy="914400"/>
          </a:xfrm>
          <a:prstGeom prst="roundRect">
            <a:avLst>
              <a:gd name="adj" fmla="val 8000"/>
            </a:avLst>
          </a:prstGeom>
          <a:solidFill>
            <a:schemeClr val="bg2"/>
          </a:solidFill>
          <a:ln w="12700">
            <a:solidFill>
              <a:schemeClr val="bg2"/>
            </a:solidFill>
            <a:prstDash val="solid"/>
          </a:ln>
        </p:spPr>
        <p:txBody>
          <a:bodyPr/>
          <a:lstStyle/>
          <a:p>
            <a:endParaRPr lang="en-US"/>
          </a:p>
        </p:txBody>
      </p:sp>
      <p:sp>
        <p:nvSpPr>
          <p:cNvPr id="20" name="Impostor circle 3"/>
          <p:cNvSpPr/>
          <p:nvPr/>
        </p:nvSpPr>
        <p:spPr>
          <a:xfrm>
            <a:off x="3931920" y="3739896"/>
            <a:ext cx="457200" cy="457200"/>
          </a:xfrm>
          <a:prstGeom prst="ellipse">
            <a:avLst/>
          </a:prstGeom>
          <a:solidFill>
            <a:schemeClr val="accent2"/>
          </a:solidFill>
          <a:ln w="12700">
            <a:solidFill>
              <a:schemeClr val="accent2"/>
            </a:solidFill>
            <a:prstDash val="solid"/>
          </a:ln>
        </p:spPr>
        <p:txBody>
          <a:bodyPr/>
          <a:lstStyle/>
          <a:p>
            <a:endParaRPr lang="en-US"/>
          </a:p>
        </p:txBody>
      </p:sp>
      <p:sp>
        <p:nvSpPr>
          <p:cNvPr id="21" name="Impostor circle 3 number"/>
          <p:cNvSpPr txBox="1"/>
          <p:nvPr/>
        </p:nvSpPr>
        <p:spPr>
          <a:xfrm>
            <a:off x="3931920" y="3739896"/>
            <a:ext cx="457200" cy="457200"/>
          </a:xfrm>
          <a:prstGeom prst="rect">
            <a:avLst/>
          </a:prstGeom>
          <a:noFill/>
          <a:ln/>
        </p:spPr>
        <p:txBody>
          <a:bodyPr wrap="square" lIns="0" tIns="0" rIns="0" bIns="0" rtlCol="0" anchor="ctr"/>
          <a:lstStyle/>
          <a:p>
            <a:pPr marL="0" indent="0" algn="ctr">
              <a:buNone/>
            </a:pPr>
            <a:r>
              <a:rPr lang="en-US" sz="1800" b="1">
                <a:solidFill>
                  <a:schemeClr val="tx1"/>
                </a:solidFill>
              </a:rPr>
              <a:t>3</a:t>
            </a:r>
            <a:endParaRPr lang="en-US" sz="1800"/>
          </a:p>
        </p:txBody>
      </p:sp>
      <p:sp>
        <p:nvSpPr>
          <p:cNvPr id="22" name="Impostor name 3"/>
          <p:cNvSpPr txBox="1"/>
          <p:nvPr/>
        </p:nvSpPr>
        <p:spPr>
          <a:xfrm>
            <a:off x="4572000" y="3584448"/>
            <a:ext cx="3931920" cy="292608"/>
          </a:xfrm>
          <a:prstGeom prst="rect">
            <a:avLst/>
          </a:prstGeom>
          <a:noFill/>
          <a:ln/>
        </p:spPr>
        <p:txBody>
          <a:bodyPr wrap="square" lIns="0" tIns="0" rIns="0" bIns="0" rtlCol="0" anchor="ctr"/>
          <a:lstStyle/>
          <a:p>
            <a:pPr marL="0" indent="0">
              <a:buNone/>
            </a:pPr>
            <a:r>
              <a:rPr lang="en-US" sz="1600" b="1">
                <a:solidFill>
                  <a:schemeClr val="tx1"/>
                </a:solidFill>
              </a:rPr>
              <a:t>W boson decays</a:t>
            </a:r>
            <a:endParaRPr lang="en-US" sz="1600"/>
          </a:p>
        </p:txBody>
      </p:sp>
      <p:sp>
        <p:nvSpPr>
          <p:cNvPr id="23" name="Impostor desc 3"/>
          <p:cNvSpPr txBox="1"/>
          <p:nvPr/>
        </p:nvSpPr>
        <p:spPr>
          <a:xfrm>
            <a:off x="4572000" y="3877056"/>
            <a:ext cx="3931920" cy="502920"/>
          </a:xfrm>
          <a:prstGeom prst="rect">
            <a:avLst/>
          </a:prstGeom>
          <a:noFill/>
          <a:ln/>
        </p:spPr>
        <p:txBody>
          <a:bodyPr wrap="square" lIns="0" tIns="0" rIns="0" bIns="0" rtlCol="0" anchor="t"/>
          <a:lstStyle/>
          <a:p>
            <a:pPr marL="0" indent="0">
              <a:buNone/>
            </a:pPr>
            <a:r>
              <a:rPr lang="en-US" sz="1400">
                <a:solidFill>
                  <a:schemeClr val="tx2"/>
                </a:solidFill>
              </a:rPr>
              <a:t>Only mimic the signal when the detector misidentifies a particle.</a:t>
            </a:r>
            <a:endParaRPr lang="en-US" sz="140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822960"/>
          </a:xfrm>
          <a:prstGeom prst="rect">
            <a:avLst/>
          </a:prstGeom>
          <a:noFill/>
          <a:ln/>
        </p:spPr>
        <p:txBody>
          <a:bodyPr wrap="square" lIns="0" tIns="0" rIns="0" bIns="0" rtlCol="0" anchor="ctr"/>
          <a:lstStyle/>
          <a:p>
            <a:pPr marL="0" indent="0" algn="l">
              <a:buNone/>
            </a:pPr>
            <a:r>
              <a:rPr lang="en-US" sz="3400" b="1">
                <a:solidFill>
                  <a:schemeClr val="tx1"/>
                </a:solidFill>
              </a:rPr>
              <a:t>The Challenge dataset</a:t>
            </a:r>
            <a:endParaRPr lang="en-US" sz="3400"/>
          </a:p>
        </p:txBody>
      </p:sp>
      <p:sp>
        <p:nvSpPr>
          <p:cNvPr id="4" name="Stat number 1"/>
          <p:cNvSpPr txBox="1"/>
          <p:nvPr/>
        </p:nvSpPr>
        <p:spPr>
          <a:xfrm>
            <a:off x="548640" y="1280160"/>
            <a:ext cx="2560320" cy="685800"/>
          </a:xfrm>
          <a:prstGeom prst="rect">
            <a:avLst/>
          </a:prstGeom>
          <a:noFill/>
          <a:ln/>
        </p:spPr>
        <p:txBody>
          <a:bodyPr wrap="square" lIns="0" tIns="0" rIns="0" bIns="0" rtlCol="0" anchor="ctr"/>
          <a:lstStyle/>
          <a:p>
            <a:pPr marL="0" indent="0">
              <a:buNone/>
            </a:pPr>
            <a:r>
              <a:rPr lang="en-US" sz="3600" b="1">
                <a:solidFill>
                  <a:schemeClr val="accent1"/>
                </a:solidFill>
              </a:rPr>
              <a:t>818,238</a:t>
            </a:r>
            <a:endParaRPr lang="en-US" sz="3600"/>
          </a:p>
        </p:txBody>
      </p:sp>
      <p:sp>
        <p:nvSpPr>
          <p:cNvPr id="5" name="Stat label 1"/>
          <p:cNvSpPr txBox="1"/>
          <p:nvPr/>
        </p:nvSpPr>
        <p:spPr>
          <a:xfrm>
            <a:off x="548640" y="1920240"/>
            <a:ext cx="2560320" cy="320040"/>
          </a:xfrm>
          <a:prstGeom prst="rect">
            <a:avLst/>
          </a:prstGeom>
          <a:noFill/>
          <a:ln/>
        </p:spPr>
        <p:txBody>
          <a:bodyPr wrap="square" lIns="0" tIns="0" rIns="0" bIns="0" rtlCol="0" anchor="ctr"/>
          <a:lstStyle/>
          <a:p>
            <a:pPr marL="0" indent="0">
              <a:buNone/>
            </a:pPr>
            <a:r>
              <a:rPr lang="en-US" sz="1400">
                <a:solidFill>
                  <a:schemeClr val="tx2"/>
                </a:solidFill>
              </a:rPr>
              <a:t>simulated events</a:t>
            </a:r>
            <a:endParaRPr lang="en-US" sz="1400"/>
          </a:p>
        </p:txBody>
      </p:sp>
      <p:sp>
        <p:nvSpPr>
          <p:cNvPr id="6" name="Stat number 2"/>
          <p:cNvSpPr txBox="1"/>
          <p:nvPr/>
        </p:nvSpPr>
        <p:spPr>
          <a:xfrm>
            <a:off x="3291840" y="1280160"/>
            <a:ext cx="2560320" cy="685800"/>
          </a:xfrm>
          <a:prstGeom prst="rect">
            <a:avLst/>
          </a:prstGeom>
          <a:noFill/>
          <a:ln/>
        </p:spPr>
        <p:txBody>
          <a:bodyPr wrap="square" lIns="0" tIns="0" rIns="0" bIns="0" rtlCol="0" anchor="ctr"/>
          <a:lstStyle/>
          <a:p>
            <a:pPr marL="0" indent="0">
              <a:buNone/>
            </a:pPr>
            <a:r>
              <a:rPr lang="en-US" sz="3600" b="1">
                <a:solidFill>
                  <a:schemeClr val="accent1"/>
                </a:solidFill>
              </a:rPr>
              <a:t>30</a:t>
            </a:r>
            <a:endParaRPr lang="en-US" sz="3600"/>
          </a:p>
        </p:txBody>
      </p:sp>
      <p:sp>
        <p:nvSpPr>
          <p:cNvPr id="7" name="Stat label 2"/>
          <p:cNvSpPr txBox="1"/>
          <p:nvPr/>
        </p:nvSpPr>
        <p:spPr>
          <a:xfrm>
            <a:off x="3291840" y="1920240"/>
            <a:ext cx="2560320" cy="320040"/>
          </a:xfrm>
          <a:prstGeom prst="rect">
            <a:avLst/>
          </a:prstGeom>
          <a:noFill/>
          <a:ln/>
        </p:spPr>
        <p:txBody>
          <a:bodyPr wrap="square" lIns="0" tIns="0" rIns="0" bIns="0" rtlCol="0" anchor="ctr"/>
          <a:lstStyle/>
          <a:p>
            <a:pPr marL="0" indent="0">
              <a:buNone/>
            </a:pPr>
            <a:r>
              <a:rPr lang="en-US" sz="1400">
                <a:solidFill>
                  <a:schemeClr val="tx2"/>
                </a:solidFill>
              </a:rPr>
              <a:t>features per event</a:t>
            </a:r>
            <a:endParaRPr lang="en-US" sz="1400"/>
          </a:p>
        </p:txBody>
      </p:sp>
      <p:sp>
        <p:nvSpPr>
          <p:cNvPr id="8" name="Stat number 3"/>
          <p:cNvSpPr txBox="1"/>
          <p:nvPr/>
        </p:nvSpPr>
        <p:spPr>
          <a:xfrm>
            <a:off x="6035040" y="1280160"/>
            <a:ext cx="2560320" cy="685800"/>
          </a:xfrm>
          <a:prstGeom prst="rect">
            <a:avLst/>
          </a:prstGeom>
          <a:noFill/>
          <a:ln/>
        </p:spPr>
        <p:txBody>
          <a:bodyPr wrap="square" lIns="0" tIns="0" rIns="0" bIns="0" rtlCol="0" anchor="ctr"/>
          <a:lstStyle/>
          <a:p>
            <a:pPr marL="0" indent="0">
              <a:buNone/>
            </a:pPr>
            <a:r>
              <a:rPr lang="en-US" sz="3600" b="1">
                <a:solidFill>
                  <a:schemeClr val="accent1"/>
                </a:solidFill>
              </a:rPr>
              <a:t>2</a:t>
            </a:r>
            <a:endParaRPr lang="en-US" sz="3600"/>
          </a:p>
        </p:txBody>
      </p:sp>
      <p:sp>
        <p:nvSpPr>
          <p:cNvPr id="9" name="Stat label 3"/>
          <p:cNvSpPr txBox="1"/>
          <p:nvPr/>
        </p:nvSpPr>
        <p:spPr>
          <a:xfrm>
            <a:off x="6035040" y="1920240"/>
            <a:ext cx="2560320" cy="320040"/>
          </a:xfrm>
          <a:prstGeom prst="rect">
            <a:avLst/>
          </a:prstGeom>
          <a:noFill/>
          <a:ln/>
        </p:spPr>
        <p:txBody>
          <a:bodyPr wrap="square" lIns="0" tIns="0" rIns="0" bIns="0" rtlCol="0" anchor="ctr"/>
          <a:lstStyle/>
          <a:p>
            <a:pPr marL="0" indent="0">
              <a:buNone/>
            </a:pPr>
            <a:r>
              <a:rPr lang="en-US" sz="1400">
                <a:solidFill>
                  <a:schemeClr val="tx2"/>
                </a:solidFill>
              </a:rPr>
              <a:t>classes: signal and background</a:t>
            </a:r>
            <a:endParaRPr lang="en-US" sz="1400"/>
          </a:p>
        </p:txBody>
      </p:sp>
      <p:sp>
        <p:nvSpPr>
          <p:cNvPr id="10" name="Feature card 1"/>
          <p:cNvSpPr/>
          <p:nvPr/>
        </p:nvSpPr>
        <p:spPr>
          <a:xfrm>
            <a:off x="548640" y="2560320"/>
            <a:ext cx="2560320" cy="1920240"/>
          </a:xfrm>
          <a:prstGeom prst="roundRect">
            <a:avLst>
              <a:gd name="adj" fmla="val 3810"/>
            </a:avLst>
          </a:prstGeom>
          <a:solidFill>
            <a:schemeClr val="bg2"/>
          </a:solidFill>
          <a:ln w="12700">
            <a:solidFill>
              <a:schemeClr val="bg2"/>
            </a:solidFill>
            <a:prstDash val="solid"/>
          </a:ln>
        </p:spPr>
        <p:txBody>
          <a:bodyPr/>
          <a:lstStyle/>
          <a:p>
            <a:endParaRPr lang="en-US"/>
          </a:p>
        </p:txBody>
      </p:sp>
      <p:sp>
        <p:nvSpPr>
          <p:cNvPr id="11" name="Feature header 1"/>
          <p:cNvSpPr txBox="1"/>
          <p:nvPr/>
        </p:nvSpPr>
        <p:spPr>
          <a:xfrm>
            <a:off x="731520" y="2697480"/>
            <a:ext cx="2194560" cy="365760"/>
          </a:xfrm>
          <a:prstGeom prst="rect">
            <a:avLst/>
          </a:prstGeom>
          <a:noFill/>
          <a:ln/>
        </p:spPr>
        <p:txBody>
          <a:bodyPr wrap="square" lIns="0" tIns="0" rIns="0" bIns="0" rtlCol="0" anchor="ctr"/>
          <a:lstStyle/>
          <a:p>
            <a:pPr marL="0" indent="0">
              <a:buNone/>
            </a:pPr>
            <a:r>
              <a:rPr lang="en-US" sz="1800" b="1">
                <a:solidFill>
                  <a:schemeClr val="tx1"/>
                </a:solidFill>
              </a:rPr>
              <a:t>PRI features</a:t>
            </a:r>
            <a:endParaRPr lang="en-US" sz="1800"/>
          </a:p>
        </p:txBody>
      </p:sp>
      <p:sp>
        <p:nvSpPr>
          <p:cNvPr id="12" name="Feature body 1"/>
          <p:cNvSpPr txBox="1"/>
          <p:nvPr/>
        </p:nvSpPr>
        <p:spPr>
          <a:xfrm>
            <a:off x="731520" y="3108960"/>
            <a:ext cx="2194560" cy="1280160"/>
          </a:xfrm>
          <a:prstGeom prst="rect">
            <a:avLst/>
          </a:prstGeom>
          <a:noFill/>
          <a:ln/>
        </p:spPr>
        <p:txBody>
          <a:bodyPr wrap="square" lIns="0" tIns="0" rIns="0" bIns="0" rtlCol="0" anchor="t"/>
          <a:lstStyle/>
          <a:p>
            <a:pPr marL="0" indent="0">
              <a:buNone/>
            </a:pPr>
            <a:r>
              <a:rPr lang="en-US" sz="1400">
                <a:solidFill>
                  <a:schemeClr val="tx2"/>
                </a:solidFill>
              </a:rPr>
              <a:t>Raw measurements: momenta and angles of the lepton, tau, jets, and missing energy.</a:t>
            </a:r>
            <a:endParaRPr lang="en-US" sz="1400"/>
          </a:p>
        </p:txBody>
      </p:sp>
      <p:sp>
        <p:nvSpPr>
          <p:cNvPr id="13" name="Feature card 2"/>
          <p:cNvSpPr/>
          <p:nvPr/>
        </p:nvSpPr>
        <p:spPr>
          <a:xfrm>
            <a:off x="3291840" y="2560320"/>
            <a:ext cx="2560320" cy="1920240"/>
          </a:xfrm>
          <a:prstGeom prst="roundRect">
            <a:avLst>
              <a:gd name="adj" fmla="val 3810"/>
            </a:avLst>
          </a:prstGeom>
          <a:solidFill>
            <a:schemeClr val="bg2"/>
          </a:solidFill>
          <a:ln w="12700">
            <a:solidFill>
              <a:schemeClr val="bg2"/>
            </a:solidFill>
            <a:prstDash val="solid"/>
          </a:ln>
        </p:spPr>
        <p:txBody>
          <a:bodyPr/>
          <a:lstStyle/>
          <a:p>
            <a:endParaRPr lang="en-US"/>
          </a:p>
        </p:txBody>
      </p:sp>
      <p:sp>
        <p:nvSpPr>
          <p:cNvPr id="14" name="Feature header 2"/>
          <p:cNvSpPr txBox="1"/>
          <p:nvPr/>
        </p:nvSpPr>
        <p:spPr>
          <a:xfrm>
            <a:off x="3474720" y="2697480"/>
            <a:ext cx="2194560" cy="365760"/>
          </a:xfrm>
          <a:prstGeom prst="rect">
            <a:avLst/>
          </a:prstGeom>
          <a:noFill/>
          <a:ln/>
        </p:spPr>
        <p:txBody>
          <a:bodyPr wrap="square" lIns="0" tIns="0" rIns="0" bIns="0" rtlCol="0" anchor="ctr"/>
          <a:lstStyle/>
          <a:p>
            <a:pPr marL="0" indent="0">
              <a:buNone/>
            </a:pPr>
            <a:r>
              <a:rPr lang="en-US" sz="1800" b="1">
                <a:solidFill>
                  <a:schemeClr val="tx1"/>
                </a:solidFill>
              </a:rPr>
              <a:t>DER features</a:t>
            </a:r>
            <a:endParaRPr lang="en-US" sz="1800"/>
          </a:p>
        </p:txBody>
      </p:sp>
      <p:sp>
        <p:nvSpPr>
          <p:cNvPr id="15" name="Feature body 2"/>
          <p:cNvSpPr txBox="1"/>
          <p:nvPr/>
        </p:nvSpPr>
        <p:spPr>
          <a:xfrm>
            <a:off x="3474720" y="3108960"/>
            <a:ext cx="2194560" cy="1280160"/>
          </a:xfrm>
          <a:prstGeom prst="rect">
            <a:avLst/>
          </a:prstGeom>
          <a:noFill/>
          <a:ln/>
        </p:spPr>
        <p:txBody>
          <a:bodyPr wrap="square" lIns="0" tIns="0" rIns="0" bIns="0" rtlCol="0" anchor="t"/>
          <a:lstStyle/>
          <a:p>
            <a:pPr marL="0" indent="0">
              <a:buNone/>
            </a:pPr>
            <a:r>
              <a:rPr lang="en-US" sz="1400">
                <a:solidFill>
                  <a:schemeClr val="tx2"/>
                </a:solidFill>
              </a:rPr>
              <a:t>Derived quantities that ATLAS physicists built, like the invariant mass of a particle pair.</a:t>
            </a:r>
            <a:endParaRPr lang="en-US" sz="1400"/>
          </a:p>
        </p:txBody>
      </p:sp>
      <p:sp>
        <p:nvSpPr>
          <p:cNvPr id="16" name="Feature card 3"/>
          <p:cNvSpPr/>
          <p:nvPr/>
        </p:nvSpPr>
        <p:spPr>
          <a:xfrm>
            <a:off x="6035040" y="2560320"/>
            <a:ext cx="2560320" cy="1920240"/>
          </a:xfrm>
          <a:prstGeom prst="roundRect">
            <a:avLst>
              <a:gd name="adj" fmla="val 3810"/>
            </a:avLst>
          </a:prstGeom>
          <a:solidFill>
            <a:schemeClr val="bg2"/>
          </a:solidFill>
          <a:ln w="12700">
            <a:solidFill>
              <a:schemeClr val="bg2"/>
            </a:solidFill>
            <a:prstDash val="solid"/>
          </a:ln>
        </p:spPr>
        <p:txBody>
          <a:bodyPr/>
          <a:lstStyle/>
          <a:p>
            <a:endParaRPr lang="en-US"/>
          </a:p>
        </p:txBody>
      </p:sp>
      <p:sp>
        <p:nvSpPr>
          <p:cNvPr id="17" name="Feature header 3"/>
          <p:cNvSpPr txBox="1"/>
          <p:nvPr/>
        </p:nvSpPr>
        <p:spPr>
          <a:xfrm>
            <a:off x="6217920" y="2697480"/>
            <a:ext cx="2194560" cy="365760"/>
          </a:xfrm>
          <a:prstGeom prst="rect">
            <a:avLst/>
          </a:prstGeom>
          <a:noFill/>
          <a:ln/>
        </p:spPr>
        <p:txBody>
          <a:bodyPr wrap="square" lIns="0" tIns="0" rIns="0" bIns="0" rtlCol="0" anchor="ctr"/>
          <a:lstStyle/>
          <a:p>
            <a:pPr marL="0" indent="0">
              <a:buNone/>
            </a:pPr>
            <a:r>
              <a:rPr lang="en-US" sz="1800" b="1">
                <a:solidFill>
                  <a:schemeClr val="tx1"/>
                </a:solidFill>
              </a:rPr>
              <a:t>Weights and -999</a:t>
            </a:r>
            <a:endParaRPr lang="en-US" sz="1800"/>
          </a:p>
        </p:txBody>
      </p:sp>
      <p:sp>
        <p:nvSpPr>
          <p:cNvPr id="18" name="Feature body 3"/>
          <p:cNvSpPr txBox="1"/>
          <p:nvPr/>
        </p:nvSpPr>
        <p:spPr>
          <a:xfrm>
            <a:off x="6217920" y="3108960"/>
            <a:ext cx="2194560" cy="1280160"/>
          </a:xfrm>
          <a:prstGeom prst="rect">
            <a:avLst/>
          </a:prstGeom>
          <a:noFill/>
          <a:ln/>
        </p:spPr>
        <p:txBody>
          <a:bodyPr wrap="square" lIns="0" tIns="0" rIns="0" bIns="0" rtlCol="0" anchor="t"/>
          <a:lstStyle/>
          <a:p>
            <a:pPr marL="0" indent="0">
              <a:buNone/>
            </a:pPr>
            <a:r>
              <a:rPr lang="en-US" sz="1400">
                <a:solidFill>
                  <a:schemeClr val="tx2"/>
                </a:solidFill>
              </a:rPr>
              <a:t>Each event carries a weight (its share of real 2012 data). A value of -999.0 means undefined.</a:t>
            </a:r>
            <a:endParaRPr lang="en-US" sz="140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822960"/>
          </a:xfrm>
          <a:prstGeom prst="rect">
            <a:avLst/>
          </a:prstGeom>
          <a:noFill/>
          <a:ln/>
        </p:spPr>
        <p:txBody>
          <a:bodyPr wrap="square" lIns="0" tIns="0" rIns="0" bIns="0" rtlCol="0" anchor="ctr"/>
          <a:lstStyle/>
          <a:p>
            <a:pPr marL="0" indent="0" algn="l">
              <a:buNone/>
            </a:pPr>
            <a:r>
              <a:rPr lang="en-US" sz="3400" b="1">
                <a:solidFill>
                  <a:schemeClr val="tx1"/>
                </a:solidFill>
              </a:rPr>
              <a:t>My approach</a:t>
            </a:r>
            <a:endParaRPr lang="en-US" sz="3400"/>
          </a:p>
        </p:txBody>
      </p:sp>
      <p:sp>
        <p:nvSpPr>
          <p:cNvPr id="4" name="Step circle 1"/>
          <p:cNvSpPr/>
          <p:nvPr/>
        </p:nvSpPr>
        <p:spPr>
          <a:xfrm>
            <a:off x="941832" y="1463040"/>
            <a:ext cx="731520" cy="731520"/>
          </a:xfrm>
          <a:prstGeom prst="ellipse">
            <a:avLst/>
          </a:prstGeom>
          <a:solidFill>
            <a:schemeClr val="accent2"/>
          </a:solidFill>
          <a:ln w="12700">
            <a:solidFill>
              <a:schemeClr val="accent2"/>
            </a:solidFill>
            <a:prstDash val="solid"/>
          </a:ln>
        </p:spPr>
        <p:txBody>
          <a:bodyPr/>
          <a:lstStyle/>
          <a:p>
            <a:endParaRPr lang="en-US"/>
          </a:p>
        </p:txBody>
      </p:sp>
      <p:sp>
        <p:nvSpPr>
          <p:cNvPr id="5" name="Step circle 1 number"/>
          <p:cNvSpPr txBox="1"/>
          <p:nvPr/>
        </p:nvSpPr>
        <p:spPr>
          <a:xfrm>
            <a:off x="941832" y="1463040"/>
            <a:ext cx="731520" cy="731520"/>
          </a:xfrm>
          <a:prstGeom prst="rect">
            <a:avLst/>
          </a:prstGeom>
          <a:noFill/>
          <a:ln/>
        </p:spPr>
        <p:txBody>
          <a:bodyPr wrap="square" lIns="0" tIns="0" rIns="0" bIns="0" rtlCol="0" anchor="ctr"/>
          <a:lstStyle/>
          <a:p>
            <a:pPr marL="0" indent="0" algn="ctr">
              <a:buNone/>
            </a:pPr>
            <a:r>
              <a:rPr lang="en-US" sz="1800" b="1">
                <a:solidFill>
                  <a:schemeClr val="tx1"/>
                </a:solidFill>
              </a:rPr>
              <a:t>1</a:t>
            </a:r>
            <a:endParaRPr lang="en-US" sz="1800"/>
          </a:p>
        </p:txBody>
      </p:sp>
      <p:sp>
        <p:nvSpPr>
          <p:cNvPr id="6" name="Step arrow 1"/>
          <p:cNvSpPr/>
          <p:nvPr/>
        </p:nvSpPr>
        <p:spPr>
          <a:xfrm>
            <a:off x="1737360" y="1709928"/>
            <a:ext cx="365760" cy="237744"/>
          </a:xfrm>
          <a:prstGeom prst="rightArrow">
            <a:avLst/>
          </a:prstGeom>
          <a:solidFill>
            <a:schemeClr val="accent6"/>
          </a:solidFill>
          <a:ln w="12700">
            <a:solidFill>
              <a:schemeClr val="accent6"/>
            </a:solidFill>
            <a:prstDash val="solid"/>
          </a:ln>
        </p:spPr>
        <p:txBody>
          <a:bodyPr/>
          <a:lstStyle/>
          <a:p>
            <a:endParaRPr lang="en-US"/>
          </a:p>
        </p:txBody>
      </p:sp>
      <p:sp>
        <p:nvSpPr>
          <p:cNvPr id="7" name="Step label 1"/>
          <p:cNvSpPr txBox="1"/>
          <p:nvPr/>
        </p:nvSpPr>
        <p:spPr>
          <a:xfrm>
            <a:off x="576072" y="2377440"/>
            <a:ext cx="1517904" cy="868680"/>
          </a:xfrm>
          <a:prstGeom prst="rect">
            <a:avLst/>
          </a:prstGeom>
          <a:noFill/>
          <a:ln/>
        </p:spPr>
        <p:txBody>
          <a:bodyPr wrap="square" lIns="0" tIns="0" rIns="0" bIns="0" rtlCol="0" anchor="t"/>
          <a:lstStyle/>
          <a:p>
            <a:pPr marL="0" indent="0" algn="ctr">
              <a:buNone/>
            </a:pPr>
            <a:r>
              <a:rPr lang="en-US" sz="1400">
                <a:solidFill>
                  <a:schemeClr val="tx1"/>
                </a:solidFill>
              </a:rPr>
              <a:t>Load data with a DataLoader class</a:t>
            </a:r>
            <a:endParaRPr lang="en-US" sz="1400"/>
          </a:p>
        </p:txBody>
      </p:sp>
      <p:sp>
        <p:nvSpPr>
          <p:cNvPr id="8" name="Step circle 2"/>
          <p:cNvSpPr/>
          <p:nvPr/>
        </p:nvSpPr>
        <p:spPr>
          <a:xfrm>
            <a:off x="2551176" y="1463040"/>
            <a:ext cx="731520" cy="731520"/>
          </a:xfrm>
          <a:prstGeom prst="ellipse">
            <a:avLst/>
          </a:prstGeom>
          <a:solidFill>
            <a:schemeClr val="accent2"/>
          </a:solidFill>
          <a:ln w="12700">
            <a:solidFill>
              <a:schemeClr val="accent2"/>
            </a:solidFill>
            <a:prstDash val="solid"/>
          </a:ln>
        </p:spPr>
        <p:txBody>
          <a:bodyPr/>
          <a:lstStyle/>
          <a:p>
            <a:endParaRPr lang="en-US"/>
          </a:p>
        </p:txBody>
      </p:sp>
      <p:sp>
        <p:nvSpPr>
          <p:cNvPr id="9" name="Step circle 2 number"/>
          <p:cNvSpPr txBox="1"/>
          <p:nvPr/>
        </p:nvSpPr>
        <p:spPr>
          <a:xfrm>
            <a:off x="2551176" y="1463040"/>
            <a:ext cx="731520" cy="731520"/>
          </a:xfrm>
          <a:prstGeom prst="rect">
            <a:avLst/>
          </a:prstGeom>
          <a:noFill/>
          <a:ln/>
        </p:spPr>
        <p:txBody>
          <a:bodyPr wrap="square" lIns="0" tIns="0" rIns="0" bIns="0" rtlCol="0" anchor="ctr"/>
          <a:lstStyle/>
          <a:p>
            <a:pPr marL="0" indent="0" algn="ctr">
              <a:buNone/>
            </a:pPr>
            <a:r>
              <a:rPr lang="en-US" sz="1800" b="1">
                <a:solidFill>
                  <a:schemeClr val="tx1"/>
                </a:solidFill>
              </a:rPr>
              <a:t>2</a:t>
            </a:r>
            <a:endParaRPr lang="en-US" sz="1800"/>
          </a:p>
        </p:txBody>
      </p:sp>
      <p:sp>
        <p:nvSpPr>
          <p:cNvPr id="10" name="Step arrow 2"/>
          <p:cNvSpPr/>
          <p:nvPr/>
        </p:nvSpPr>
        <p:spPr>
          <a:xfrm>
            <a:off x="3346704" y="1709928"/>
            <a:ext cx="365760" cy="237744"/>
          </a:xfrm>
          <a:prstGeom prst="rightArrow">
            <a:avLst/>
          </a:prstGeom>
          <a:solidFill>
            <a:schemeClr val="accent6"/>
          </a:solidFill>
          <a:ln w="12700">
            <a:solidFill>
              <a:schemeClr val="accent6"/>
            </a:solidFill>
            <a:prstDash val="solid"/>
          </a:ln>
        </p:spPr>
        <p:txBody>
          <a:bodyPr/>
          <a:lstStyle/>
          <a:p>
            <a:endParaRPr lang="en-US"/>
          </a:p>
        </p:txBody>
      </p:sp>
      <p:sp>
        <p:nvSpPr>
          <p:cNvPr id="11" name="Step label 2"/>
          <p:cNvSpPr txBox="1"/>
          <p:nvPr/>
        </p:nvSpPr>
        <p:spPr>
          <a:xfrm>
            <a:off x="2185416" y="2377440"/>
            <a:ext cx="1517904" cy="868680"/>
          </a:xfrm>
          <a:prstGeom prst="rect">
            <a:avLst/>
          </a:prstGeom>
          <a:noFill/>
          <a:ln/>
        </p:spPr>
        <p:txBody>
          <a:bodyPr wrap="square" lIns="0" tIns="0" rIns="0" bIns="0" rtlCol="0" anchor="t"/>
          <a:lstStyle/>
          <a:p>
            <a:pPr marL="0" indent="0" algn="ctr">
              <a:buNone/>
            </a:pPr>
            <a:r>
              <a:rPr lang="en-US" sz="1400">
                <a:solidFill>
                  <a:schemeClr val="tx1"/>
                </a:solidFill>
              </a:rPr>
              <a:t>Split into train and validation</a:t>
            </a:r>
            <a:endParaRPr lang="en-US" sz="1400"/>
          </a:p>
        </p:txBody>
      </p:sp>
      <p:sp>
        <p:nvSpPr>
          <p:cNvPr id="12" name="Step circle 3"/>
          <p:cNvSpPr/>
          <p:nvPr/>
        </p:nvSpPr>
        <p:spPr>
          <a:xfrm>
            <a:off x="4160520" y="1463040"/>
            <a:ext cx="731520" cy="731520"/>
          </a:xfrm>
          <a:prstGeom prst="ellipse">
            <a:avLst/>
          </a:prstGeom>
          <a:solidFill>
            <a:schemeClr val="accent2"/>
          </a:solidFill>
          <a:ln w="12700">
            <a:solidFill>
              <a:schemeClr val="accent2"/>
            </a:solidFill>
            <a:prstDash val="solid"/>
          </a:ln>
        </p:spPr>
        <p:txBody>
          <a:bodyPr/>
          <a:lstStyle/>
          <a:p>
            <a:endParaRPr lang="en-US"/>
          </a:p>
        </p:txBody>
      </p:sp>
      <p:sp>
        <p:nvSpPr>
          <p:cNvPr id="13" name="Step circle 3 number"/>
          <p:cNvSpPr txBox="1"/>
          <p:nvPr/>
        </p:nvSpPr>
        <p:spPr>
          <a:xfrm>
            <a:off x="4160520" y="1463040"/>
            <a:ext cx="731520" cy="731520"/>
          </a:xfrm>
          <a:prstGeom prst="rect">
            <a:avLst/>
          </a:prstGeom>
          <a:noFill/>
          <a:ln/>
        </p:spPr>
        <p:txBody>
          <a:bodyPr wrap="square" lIns="0" tIns="0" rIns="0" bIns="0" rtlCol="0" anchor="ctr"/>
          <a:lstStyle/>
          <a:p>
            <a:pPr marL="0" indent="0" algn="ctr">
              <a:buNone/>
            </a:pPr>
            <a:r>
              <a:rPr lang="en-US" sz="1800" b="1">
                <a:solidFill>
                  <a:schemeClr val="tx1"/>
                </a:solidFill>
              </a:rPr>
              <a:t>3</a:t>
            </a:r>
            <a:endParaRPr lang="en-US" sz="1800"/>
          </a:p>
        </p:txBody>
      </p:sp>
      <p:sp>
        <p:nvSpPr>
          <p:cNvPr id="14" name="Step arrow 3"/>
          <p:cNvSpPr/>
          <p:nvPr/>
        </p:nvSpPr>
        <p:spPr>
          <a:xfrm>
            <a:off x="4956048" y="1709928"/>
            <a:ext cx="365760" cy="237744"/>
          </a:xfrm>
          <a:prstGeom prst="rightArrow">
            <a:avLst/>
          </a:prstGeom>
          <a:solidFill>
            <a:schemeClr val="accent6"/>
          </a:solidFill>
          <a:ln w="12700">
            <a:solidFill>
              <a:schemeClr val="accent6"/>
            </a:solidFill>
            <a:prstDash val="solid"/>
          </a:ln>
        </p:spPr>
        <p:txBody>
          <a:bodyPr/>
          <a:lstStyle/>
          <a:p>
            <a:endParaRPr lang="en-US"/>
          </a:p>
        </p:txBody>
      </p:sp>
      <p:sp>
        <p:nvSpPr>
          <p:cNvPr id="15" name="Step label 3"/>
          <p:cNvSpPr txBox="1"/>
          <p:nvPr/>
        </p:nvSpPr>
        <p:spPr>
          <a:xfrm>
            <a:off x="3794760" y="2377440"/>
            <a:ext cx="1517904" cy="868680"/>
          </a:xfrm>
          <a:prstGeom prst="rect">
            <a:avLst/>
          </a:prstGeom>
          <a:noFill/>
          <a:ln/>
        </p:spPr>
        <p:txBody>
          <a:bodyPr wrap="square" lIns="0" tIns="0" rIns="0" bIns="0" rtlCol="0" anchor="t"/>
          <a:lstStyle/>
          <a:p>
            <a:pPr marL="0" indent="0" algn="ctr">
              <a:buNone/>
            </a:pPr>
            <a:r>
              <a:rPr lang="en-US" sz="1400">
                <a:solidFill>
                  <a:schemeClr val="tx1"/>
                </a:solidFill>
              </a:rPr>
              <a:t>Train a LightGBM model</a:t>
            </a:r>
            <a:endParaRPr lang="en-US" sz="1400"/>
          </a:p>
        </p:txBody>
      </p:sp>
      <p:sp>
        <p:nvSpPr>
          <p:cNvPr id="16" name="Step circle 4"/>
          <p:cNvSpPr/>
          <p:nvPr/>
        </p:nvSpPr>
        <p:spPr>
          <a:xfrm>
            <a:off x="5769864" y="1463040"/>
            <a:ext cx="731520" cy="731520"/>
          </a:xfrm>
          <a:prstGeom prst="ellipse">
            <a:avLst/>
          </a:prstGeom>
          <a:solidFill>
            <a:schemeClr val="accent2"/>
          </a:solidFill>
          <a:ln w="12700">
            <a:solidFill>
              <a:schemeClr val="accent2"/>
            </a:solidFill>
            <a:prstDash val="solid"/>
          </a:ln>
        </p:spPr>
        <p:txBody>
          <a:bodyPr/>
          <a:lstStyle/>
          <a:p>
            <a:endParaRPr lang="en-US"/>
          </a:p>
        </p:txBody>
      </p:sp>
      <p:sp>
        <p:nvSpPr>
          <p:cNvPr id="17" name="Step circle 4 number"/>
          <p:cNvSpPr txBox="1"/>
          <p:nvPr/>
        </p:nvSpPr>
        <p:spPr>
          <a:xfrm>
            <a:off x="5769864" y="1463040"/>
            <a:ext cx="731520" cy="731520"/>
          </a:xfrm>
          <a:prstGeom prst="rect">
            <a:avLst/>
          </a:prstGeom>
          <a:noFill/>
          <a:ln/>
        </p:spPr>
        <p:txBody>
          <a:bodyPr wrap="square" lIns="0" tIns="0" rIns="0" bIns="0" rtlCol="0" anchor="ctr"/>
          <a:lstStyle/>
          <a:p>
            <a:pPr marL="0" indent="0" algn="ctr">
              <a:buNone/>
            </a:pPr>
            <a:r>
              <a:rPr lang="en-US" sz="1800" b="1">
                <a:solidFill>
                  <a:schemeClr val="tx1"/>
                </a:solidFill>
              </a:rPr>
              <a:t>4</a:t>
            </a:r>
            <a:endParaRPr lang="en-US" sz="1800"/>
          </a:p>
        </p:txBody>
      </p:sp>
      <p:sp>
        <p:nvSpPr>
          <p:cNvPr id="18" name="Step arrow 4"/>
          <p:cNvSpPr/>
          <p:nvPr/>
        </p:nvSpPr>
        <p:spPr>
          <a:xfrm>
            <a:off x="6565392" y="1709928"/>
            <a:ext cx="365760" cy="237744"/>
          </a:xfrm>
          <a:prstGeom prst="rightArrow">
            <a:avLst/>
          </a:prstGeom>
          <a:solidFill>
            <a:schemeClr val="accent6"/>
          </a:solidFill>
          <a:ln w="12700">
            <a:solidFill>
              <a:schemeClr val="accent6"/>
            </a:solidFill>
            <a:prstDash val="solid"/>
          </a:ln>
        </p:spPr>
        <p:txBody>
          <a:bodyPr/>
          <a:lstStyle/>
          <a:p>
            <a:endParaRPr lang="en-US"/>
          </a:p>
        </p:txBody>
      </p:sp>
      <p:sp>
        <p:nvSpPr>
          <p:cNvPr id="19" name="Step label 4"/>
          <p:cNvSpPr txBox="1"/>
          <p:nvPr/>
        </p:nvSpPr>
        <p:spPr>
          <a:xfrm>
            <a:off x="5404104" y="2377440"/>
            <a:ext cx="1517904" cy="868680"/>
          </a:xfrm>
          <a:prstGeom prst="rect">
            <a:avLst/>
          </a:prstGeom>
          <a:noFill/>
          <a:ln/>
        </p:spPr>
        <p:txBody>
          <a:bodyPr wrap="square" lIns="0" tIns="0" rIns="0" bIns="0" rtlCol="0" anchor="t"/>
          <a:lstStyle/>
          <a:p>
            <a:pPr marL="0" indent="0" algn="ctr">
              <a:buNone/>
            </a:pPr>
            <a:r>
              <a:rPr lang="en-US" sz="1400">
                <a:solidFill>
                  <a:schemeClr val="tx1"/>
                </a:solidFill>
              </a:rPr>
              <a:t>Check ranking with ROC and AUC</a:t>
            </a:r>
            <a:endParaRPr lang="en-US" sz="1400"/>
          </a:p>
        </p:txBody>
      </p:sp>
      <p:sp>
        <p:nvSpPr>
          <p:cNvPr id="20" name="Step circle 5"/>
          <p:cNvSpPr/>
          <p:nvPr/>
        </p:nvSpPr>
        <p:spPr>
          <a:xfrm>
            <a:off x="7379208" y="1463040"/>
            <a:ext cx="731520" cy="731520"/>
          </a:xfrm>
          <a:prstGeom prst="ellipse">
            <a:avLst/>
          </a:prstGeom>
          <a:solidFill>
            <a:schemeClr val="accent1"/>
          </a:solidFill>
          <a:ln w="12700">
            <a:solidFill>
              <a:schemeClr val="accent1"/>
            </a:solidFill>
            <a:prstDash val="solid"/>
          </a:ln>
        </p:spPr>
        <p:txBody>
          <a:bodyPr/>
          <a:lstStyle/>
          <a:p>
            <a:endParaRPr lang="en-US"/>
          </a:p>
        </p:txBody>
      </p:sp>
      <p:sp>
        <p:nvSpPr>
          <p:cNvPr id="21" name="Step circle 5 number"/>
          <p:cNvSpPr txBox="1"/>
          <p:nvPr/>
        </p:nvSpPr>
        <p:spPr>
          <a:xfrm>
            <a:off x="7379208" y="1463040"/>
            <a:ext cx="731520" cy="731520"/>
          </a:xfrm>
          <a:prstGeom prst="rect">
            <a:avLst/>
          </a:prstGeom>
          <a:noFill/>
          <a:ln/>
        </p:spPr>
        <p:txBody>
          <a:bodyPr wrap="square" lIns="0" tIns="0" rIns="0" bIns="0" rtlCol="0" anchor="ctr"/>
          <a:lstStyle/>
          <a:p>
            <a:pPr marL="0" indent="0" algn="ctr">
              <a:buNone/>
            </a:pPr>
            <a:r>
              <a:rPr lang="en-US" sz="1800" b="1">
                <a:solidFill>
                  <a:schemeClr val="tx1"/>
                </a:solidFill>
              </a:rPr>
              <a:t>5</a:t>
            </a:r>
            <a:endParaRPr lang="en-US" sz="1800"/>
          </a:p>
        </p:txBody>
      </p:sp>
      <p:sp>
        <p:nvSpPr>
          <p:cNvPr id="22" name="Step label 5"/>
          <p:cNvSpPr txBox="1"/>
          <p:nvPr/>
        </p:nvSpPr>
        <p:spPr>
          <a:xfrm>
            <a:off x="7013448" y="2377440"/>
            <a:ext cx="1517904" cy="868680"/>
          </a:xfrm>
          <a:prstGeom prst="rect">
            <a:avLst/>
          </a:prstGeom>
          <a:noFill/>
          <a:ln/>
        </p:spPr>
        <p:txBody>
          <a:bodyPr wrap="square" lIns="0" tIns="0" rIns="0" bIns="0" rtlCol="0" anchor="t"/>
          <a:lstStyle/>
          <a:p>
            <a:pPr marL="0" indent="0" algn="ctr">
              <a:buNone/>
            </a:pPr>
            <a:r>
              <a:rPr lang="en-US" sz="1400">
                <a:solidFill>
                  <a:schemeClr val="tx1"/>
                </a:solidFill>
              </a:rPr>
              <a:t>Pick a cut and measure AMS</a:t>
            </a:r>
            <a:endParaRPr lang="en-US" sz="1400"/>
          </a:p>
        </p:txBody>
      </p:sp>
      <p:sp>
        <p:nvSpPr>
          <p:cNvPr id="23" name="Why trees card"/>
          <p:cNvSpPr/>
          <p:nvPr/>
        </p:nvSpPr>
        <p:spPr>
          <a:xfrm>
            <a:off x="548640" y="3520440"/>
            <a:ext cx="8046720" cy="960120"/>
          </a:xfrm>
          <a:prstGeom prst="roundRect">
            <a:avLst>
              <a:gd name="adj" fmla="val 7619"/>
            </a:avLst>
          </a:prstGeom>
          <a:solidFill>
            <a:schemeClr val="bg2"/>
          </a:solidFill>
          <a:ln w="12700">
            <a:solidFill>
              <a:schemeClr val="bg2"/>
            </a:solidFill>
            <a:prstDash val="solid"/>
          </a:ln>
        </p:spPr>
        <p:txBody>
          <a:bodyPr/>
          <a:lstStyle/>
          <a:p>
            <a:endParaRPr lang="en-US"/>
          </a:p>
        </p:txBody>
      </p:sp>
      <p:sp>
        <p:nvSpPr>
          <p:cNvPr id="24" name="Why trees text"/>
          <p:cNvSpPr txBox="1"/>
          <p:nvPr/>
        </p:nvSpPr>
        <p:spPr>
          <a:xfrm>
            <a:off x="777240" y="3520440"/>
            <a:ext cx="7589520" cy="960120"/>
          </a:xfrm>
          <a:prstGeom prst="rect">
            <a:avLst/>
          </a:prstGeom>
          <a:noFill/>
          <a:ln/>
        </p:spPr>
        <p:txBody>
          <a:bodyPr wrap="square" lIns="0" tIns="0" rIns="0" bIns="0" rtlCol="0" anchor="ctr"/>
          <a:lstStyle/>
          <a:p>
            <a:pPr marL="0" indent="0">
              <a:buNone/>
            </a:pPr>
            <a:r>
              <a:rPr lang="en-US" sz="1400">
                <a:solidFill>
                  <a:schemeClr val="tx1"/>
                </a:solidFill>
              </a:rPr>
              <a:t>Why gradient boosted trees? They are fast on 800K rows, strong on tabular data, and the Challenge's top entries leaned on boosted trees too.</a:t>
            </a:r>
            <a:endParaRPr lang="en-US" sz="140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82880"/>
            <a:ext cx="8046720" cy="822960"/>
          </a:xfrm>
          <a:prstGeom prst="rect">
            <a:avLst/>
          </a:prstGeom>
          <a:noFill/>
          <a:ln/>
        </p:spPr>
        <p:txBody>
          <a:bodyPr wrap="square" lIns="0" tIns="0" rIns="0" bIns="0" rtlCol="0" anchor="ctr"/>
          <a:lstStyle/>
          <a:p>
            <a:pPr marL="0" indent="0" algn="l">
              <a:buNone/>
            </a:pPr>
            <a:r>
              <a:rPr lang="en-US" sz="3400" b="1">
                <a:solidFill>
                  <a:schemeClr val="tx1"/>
                </a:solidFill>
              </a:rPr>
              <a:t>My ROC curve</a:t>
            </a:r>
            <a:endParaRPr lang="en-US" sz="3400"/>
          </a:p>
        </p:txBody>
      </p:sp>
      <p:sp>
        <p:nvSpPr>
          <p:cNvPr id="5" name="Chart placeholder: ROC curve label"/>
          <p:cNvSpPr txBox="1"/>
          <p:nvPr/>
        </p:nvSpPr>
        <p:spPr>
          <a:xfrm>
            <a:off x="753185" y="1371600"/>
            <a:ext cx="4572000" cy="3108960"/>
          </a:xfrm>
          <a:prstGeom prst="rect">
            <a:avLst/>
          </a:prstGeom>
          <a:noFill/>
          <a:ln/>
        </p:spPr>
        <p:txBody>
          <a:bodyPr wrap="square" rtlCol="0" anchor="ctr"/>
          <a:lstStyle/>
          <a:p>
            <a:pPr marL="0" indent="0" algn="ctr">
              <a:buNone/>
            </a:pPr>
            <a:r>
              <a:rPr lang="en-US" sz="1400">
                <a:solidFill>
                  <a:schemeClr val="tx2"/>
                </a:solidFill>
              </a:rPr>
              <a:t>[ Insert ROC curve here ]</a:t>
            </a:r>
            <a:endParaRPr lang="en-US" sz="1400"/>
          </a:p>
        </p:txBody>
      </p:sp>
      <p:sp>
        <p:nvSpPr>
          <p:cNvPr id="6" name="Weighted AUC card"/>
          <p:cNvSpPr/>
          <p:nvPr/>
        </p:nvSpPr>
        <p:spPr>
          <a:xfrm>
            <a:off x="5760720" y="1371600"/>
            <a:ext cx="2834640" cy="1463040"/>
          </a:xfrm>
          <a:prstGeom prst="roundRect">
            <a:avLst>
              <a:gd name="adj" fmla="val 5000"/>
            </a:avLst>
          </a:prstGeom>
          <a:solidFill>
            <a:schemeClr val="tx1"/>
          </a:solidFill>
          <a:ln w="12700">
            <a:solidFill>
              <a:schemeClr val="tx1"/>
            </a:solidFill>
            <a:prstDash val="solid"/>
          </a:ln>
        </p:spPr>
        <p:txBody>
          <a:bodyPr/>
          <a:lstStyle/>
          <a:p>
            <a:endParaRPr lang="en-US"/>
          </a:p>
        </p:txBody>
      </p:sp>
      <p:sp>
        <p:nvSpPr>
          <p:cNvPr id="7" name="Weighted AUC value"/>
          <p:cNvSpPr txBox="1"/>
          <p:nvPr/>
        </p:nvSpPr>
        <p:spPr>
          <a:xfrm>
            <a:off x="5760720" y="1463040"/>
            <a:ext cx="2834640" cy="777240"/>
          </a:xfrm>
          <a:prstGeom prst="rect">
            <a:avLst/>
          </a:prstGeom>
          <a:noFill/>
          <a:ln/>
        </p:spPr>
        <p:txBody>
          <a:bodyPr wrap="square" lIns="0" tIns="0" rIns="0" bIns="0" rtlCol="0" anchor="ctr"/>
          <a:lstStyle/>
          <a:p>
            <a:pPr marL="0" indent="0" algn="ctr">
              <a:buNone/>
            </a:pPr>
            <a:r>
              <a:rPr lang="en-US" sz="3800" b="1">
                <a:solidFill>
                  <a:schemeClr val="accent1"/>
                </a:solidFill>
              </a:rPr>
              <a:t>0.9329</a:t>
            </a:r>
            <a:endParaRPr lang="en-US" sz="3800"/>
          </a:p>
        </p:txBody>
      </p:sp>
      <p:sp>
        <p:nvSpPr>
          <p:cNvPr id="8" name="Weighted AUC label"/>
          <p:cNvSpPr txBox="1"/>
          <p:nvPr/>
        </p:nvSpPr>
        <p:spPr>
          <a:xfrm>
            <a:off x="5760720" y="2240280"/>
            <a:ext cx="2834640" cy="365760"/>
          </a:xfrm>
          <a:prstGeom prst="rect">
            <a:avLst/>
          </a:prstGeom>
          <a:noFill/>
          <a:ln/>
        </p:spPr>
        <p:txBody>
          <a:bodyPr wrap="square" lIns="0" tIns="0" rIns="0" bIns="0" rtlCol="0" anchor="ctr"/>
          <a:lstStyle/>
          <a:p>
            <a:pPr marL="0" indent="0" algn="ctr">
              <a:buNone/>
            </a:pPr>
            <a:r>
              <a:rPr lang="en-US" sz="1400">
                <a:solidFill>
                  <a:schemeClr val="bg1"/>
                </a:solidFill>
              </a:rPr>
              <a:t>weighted AUC</a:t>
            </a:r>
            <a:endParaRPr lang="en-US" sz="1400"/>
          </a:p>
        </p:txBody>
      </p:sp>
      <p:sp>
        <p:nvSpPr>
          <p:cNvPr id="9" name="Unweighted AUC card"/>
          <p:cNvSpPr/>
          <p:nvPr/>
        </p:nvSpPr>
        <p:spPr>
          <a:xfrm>
            <a:off x="5760720" y="3017520"/>
            <a:ext cx="2834640" cy="1463040"/>
          </a:xfrm>
          <a:prstGeom prst="roundRect">
            <a:avLst>
              <a:gd name="adj" fmla="val 5000"/>
            </a:avLst>
          </a:prstGeom>
          <a:solidFill>
            <a:schemeClr val="tx1"/>
          </a:solidFill>
          <a:ln w="12700">
            <a:solidFill>
              <a:schemeClr val="tx1"/>
            </a:solidFill>
            <a:prstDash val="solid"/>
          </a:ln>
        </p:spPr>
        <p:txBody>
          <a:bodyPr/>
          <a:lstStyle/>
          <a:p>
            <a:endParaRPr lang="en-US"/>
          </a:p>
        </p:txBody>
      </p:sp>
      <p:sp>
        <p:nvSpPr>
          <p:cNvPr id="10" name="Unweighted AUC value"/>
          <p:cNvSpPr txBox="1"/>
          <p:nvPr/>
        </p:nvSpPr>
        <p:spPr>
          <a:xfrm>
            <a:off x="5760720" y="3108960"/>
            <a:ext cx="2834640" cy="777240"/>
          </a:xfrm>
          <a:prstGeom prst="rect">
            <a:avLst/>
          </a:prstGeom>
          <a:noFill/>
          <a:ln/>
        </p:spPr>
        <p:txBody>
          <a:bodyPr wrap="square" lIns="0" tIns="0" rIns="0" bIns="0" rtlCol="0" anchor="ctr"/>
          <a:lstStyle/>
          <a:p>
            <a:pPr marL="0" indent="0" algn="ctr">
              <a:buNone/>
            </a:pPr>
            <a:r>
              <a:rPr lang="en-US" sz="3800" b="1">
                <a:solidFill>
                  <a:schemeClr val="accent1"/>
                </a:solidFill>
              </a:rPr>
              <a:t>0.8979</a:t>
            </a:r>
            <a:endParaRPr lang="en-US" sz="3800"/>
          </a:p>
        </p:txBody>
      </p:sp>
      <p:sp>
        <p:nvSpPr>
          <p:cNvPr id="11" name="Unweighted AUC label"/>
          <p:cNvSpPr txBox="1"/>
          <p:nvPr/>
        </p:nvSpPr>
        <p:spPr>
          <a:xfrm>
            <a:off x="5760720" y="3886200"/>
            <a:ext cx="2834640" cy="365760"/>
          </a:xfrm>
          <a:prstGeom prst="rect">
            <a:avLst/>
          </a:prstGeom>
          <a:noFill/>
          <a:ln/>
        </p:spPr>
        <p:txBody>
          <a:bodyPr wrap="square" lIns="0" tIns="0" rIns="0" bIns="0" rtlCol="0" anchor="ctr"/>
          <a:lstStyle/>
          <a:p>
            <a:pPr marL="0" indent="0" algn="ctr">
              <a:buNone/>
            </a:pPr>
            <a:r>
              <a:rPr lang="en-US" sz="1400">
                <a:solidFill>
                  <a:schemeClr val="bg1"/>
                </a:solidFill>
              </a:rPr>
              <a:t>unweighted AUC</a:t>
            </a:r>
            <a:endParaRPr lang="en-US" sz="140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8</a:t>
            </a:fld>
            <a:endParaRPr lang="en-US"/>
          </a:p>
        </p:txBody>
      </p:sp>
      <p:pic>
        <p:nvPicPr>
          <p:cNvPr id="12" name="Picture 11">
            <a:extLst>
              <a:ext uri="{FF2B5EF4-FFF2-40B4-BE49-F238E27FC236}">
                <a16:creationId xmlns:a16="http://schemas.microsoft.com/office/drawing/2014/main" id="{3DBB604F-884F-464B-37D3-80106EDEA60E}"/>
              </a:ext>
            </a:extLst>
          </p:cNvPr>
          <p:cNvPicPr>
            <a:picLocks noChangeAspect="1"/>
          </p:cNvPicPr>
          <p:nvPr/>
        </p:nvPicPr>
        <p:blipFill>
          <a:blip r:embed="rId3"/>
          <a:stretch>
            <a:fillRect/>
          </a:stretch>
        </p:blipFill>
        <p:spPr>
          <a:xfrm>
            <a:off x="396239" y="856660"/>
            <a:ext cx="3949337" cy="40353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822960"/>
          </a:xfrm>
          <a:prstGeom prst="rect">
            <a:avLst/>
          </a:prstGeom>
          <a:noFill/>
          <a:ln/>
        </p:spPr>
        <p:txBody>
          <a:bodyPr wrap="square" lIns="0" tIns="0" rIns="0" bIns="0" rtlCol="0" anchor="ctr"/>
          <a:lstStyle/>
          <a:p>
            <a:pPr marL="0" indent="0" algn="l">
              <a:buNone/>
            </a:pPr>
            <a:r>
              <a:rPr lang="en-US" sz="3400" b="1">
                <a:solidFill>
                  <a:schemeClr val="tx1"/>
                </a:solidFill>
              </a:rPr>
              <a:t>Why AUC is not the whole story</a:t>
            </a:r>
            <a:endParaRPr lang="en-US" sz="3400"/>
          </a:p>
        </p:txBody>
      </p:sp>
      <p:sp>
        <p:nvSpPr>
          <p:cNvPr id="4" name="AUC card"/>
          <p:cNvSpPr/>
          <p:nvPr/>
        </p:nvSpPr>
        <p:spPr>
          <a:xfrm>
            <a:off x="548640" y="1371600"/>
            <a:ext cx="3840480" cy="2606040"/>
          </a:xfrm>
          <a:prstGeom prst="roundRect">
            <a:avLst>
              <a:gd name="adj" fmla="val 2807"/>
            </a:avLst>
          </a:prstGeom>
          <a:solidFill>
            <a:schemeClr val="bg2"/>
          </a:solidFill>
          <a:ln w="12700">
            <a:solidFill>
              <a:schemeClr val="bg2"/>
            </a:solidFill>
            <a:prstDash val="solid"/>
          </a:ln>
        </p:spPr>
        <p:txBody>
          <a:bodyPr/>
          <a:lstStyle/>
          <a:p>
            <a:endParaRPr lang="en-US"/>
          </a:p>
        </p:txBody>
      </p:sp>
      <p:sp>
        <p:nvSpPr>
          <p:cNvPr id="5" name="AUC header"/>
          <p:cNvSpPr txBox="1"/>
          <p:nvPr/>
        </p:nvSpPr>
        <p:spPr>
          <a:xfrm>
            <a:off x="777240" y="1508760"/>
            <a:ext cx="3383280" cy="365760"/>
          </a:xfrm>
          <a:prstGeom prst="rect">
            <a:avLst/>
          </a:prstGeom>
          <a:noFill/>
          <a:ln/>
        </p:spPr>
        <p:txBody>
          <a:bodyPr wrap="square" lIns="0" tIns="0" rIns="0" bIns="0" rtlCol="0" anchor="ctr"/>
          <a:lstStyle/>
          <a:p>
            <a:pPr marL="0" indent="0">
              <a:buNone/>
            </a:pPr>
            <a:r>
              <a:rPr lang="en-US" sz="1800" b="1">
                <a:solidFill>
                  <a:schemeClr val="tx1"/>
                </a:solidFill>
              </a:rPr>
              <a:t>What AUC measures</a:t>
            </a:r>
            <a:endParaRPr lang="en-US" sz="1800"/>
          </a:p>
        </p:txBody>
      </p:sp>
      <p:sp>
        <p:nvSpPr>
          <p:cNvPr id="6" name="AUC bullets"/>
          <p:cNvSpPr txBox="1"/>
          <p:nvPr/>
        </p:nvSpPr>
        <p:spPr>
          <a:xfrm>
            <a:off x="777240" y="1920240"/>
            <a:ext cx="3383280" cy="1920240"/>
          </a:xfrm>
          <a:prstGeom prst="rect">
            <a:avLst/>
          </a:prstGeom>
          <a:noFill/>
          <a:ln/>
        </p:spPr>
        <p:txBody>
          <a:bodyPr wrap="square" lIns="0" tIns="0" rIns="0" bIns="0" rtlCol="0" anchor="t"/>
          <a:lstStyle/>
          <a:p>
            <a:pPr marL="342900" indent="-342900">
              <a:spcAft>
                <a:spcPts val="800"/>
              </a:spcAft>
              <a:buSzPct val="100000"/>
              <a:buChar char="•"/>
            </a:pPr>
            <a:r>
              <a:rPr lang="en-US" sz="1400">
                <a:solidFill>
                  <a:schemeClr val="tx2"/>
                </a:solidFill>
              </a:rPr>
              <a:t>Ranking quality across every possible threshold</a:t>
            </a:r>
            <a:endParaRPr lang="en-US" sz="1400"/>
          </a:p>
          <a:p>
            <a:pPr marL="342900" indent="-342900">
              <a:spcAft>
                <a:spcPts val="800"/>
              </a:spcAft>
              <a:buSzPct val="100000"/>
              <a:buChar char="•"/>
            </a:pPr>
            <a:r>
              <a:rPr lang="en-US" sz="1400">
                <a:solidFill>
                  <a:schemeClr val="tx2"/>
                </a:solidFill>
              </a:rPr>
              <a:t>Treats every event and every mistake equally</a:t>
            </a:r>
            <a:endParaRPr lang="en-US" sz="1400"/>
          </a:p>
          <a:p>
            <a:pPr marL="342900" indent="-342900">
              <a:spcAft>
                <a:spcPts val="800"/>
              </a:spcAft>
              <a:buSzPct val="100000"/>
              <a:buChar char="•"/>
            </a:pPr>
            <a:r>
              <a:rPr lang="en-US" sz="1400">
                <a:solidFill>
                  <a:schemeClr val="tx2"/>
                </a:solidFill>
              </a:rPr>
              <a:t>0.5 is a coin flip; 1.0 is perfect</a:t>
            </a:r>
            <a:endParaRPr lang="en-US" sz="1400"/>
          </a:p>
        </p:txBody>
      </p:sp>
      <p:sp>
        <p:nvSpPr>
          <p:cNvPr id="7" name="AMS card"/>
          <p:cNvSpPr/>
          <p:nvPr/>
        </p:nvSpPr>
        <p:spPr>
          <a:xfrm>
            <a:off x="4754880" y="1371600"/>
            <a:ext cx="3840480" cy="2606040"/>
          </a:xfrm>
          <a:prstGeom prst="roundRect">
            <a:avLst>
              <a:gd name="adj" fmla="val 2807"/>
            </a:avLst>
          </a:prstGeom>
          <a:solidFill>
            <a:schemeClr val="tx1"/>
          </a:solidFill>
          <a:ln w="12700">
            <a:solidFill>
              <a:schemeClr val="tx1"/>
            </a:solidFill>
            <a:prstDash val="solid"/>
          </a:ln>
        </p:spPr>
        <p:txBody>
          <a:bodyPr/>
          <a:lstStyle/>
          <a:p>
            <a:endParaRPr lang="en-US"/>
          </a:p>
        </p:txBody>
      </p:sp>
      <p:sp>
        <p:nvSpPr>
          <p:cNvPr id="8" name="Need header"/>
          <p:cNvSpPr txBox="1"/>
          <p:nvPr/>
        </p:nvSpPr>
        <p:spPr>
          <a:xfrm>
            <a:off x="4983480" y="1508760"/>
            <a:ext cx="3383280" cy="365760"/>
          </a:xfrm>
          <a:prstGeom prst="rect">
            <a:avLst/>
          </a:prstGeom>
          <a:noFill/>
          <a:ln/>
        </p:spPr>
        <p:txBody>
          <a:bodyPr wrap="square" lIns="0" tIns="0" rIns="0" bIns="0" rtlCol="0" anchor="ctr"/>
          <a:lstStyle/>
          <a:p>
            <a:pPr marL="0" indent="0">
              <a:buNone/>
            </a:pPr>
            <a:r>
              <a:rPr lang="en-US" sz="1800" b="1">
                <a:solidFill>
                  <a:schemeClr val="accent1"/>
                </a:solidFill>
              </a:rPr>
              <a:t>What physicists need</a:t>
            </a:r>
            <a:endParaRPr lang="en-US" sz="1800"/>
          </a:p>
        </p:txBody>
      </p:sp>
      <p:sp>
        <p:nvSpPr>
          <p:cNvPr id="9" name="Need bullets"/>
          <p:cNvSpPr txBox="1"/>
          <p:nvPr/>
        </p:nvSpPr>
        <p:spPr>
          <a:xfrm>
            <a:off x="4983480" y="1920240"/>
            <a:ext cx="3383280" cy="1920240"/>
          </a:xfrm>
          <a:prstGeom prst="rect">
            <a:avLst/>
          </a:prstGeom>
          <a:noFill/>
          <a:ln/>
        </p:spPr>
        <p:txBody>
          <a:bodyPr wrap="square" lIns="0" tIns="0" rIns="0" bIns="0" rtlCol="0" anchor="t"/>
          <a:lstStyle/>
          <a:p>
            <a:pPr marL="342900" indent="-342900">
              <a:spcAft>
                <a:spcPts val="800"/>
              </a:spcAft>
              <a:buSzPct val="100000"/>
              <a:buChar char="•"/>
            </a:pPr>
            <a:r>
              <a:rPr lang="en-US" sz="1400">
                <a:solidFill>
                  <a:schemeClr val="bg1"/>
                </a:solidFill>
              </a:rPr>
              <a:t>One fixed selection region (a single cut)</a:t>
            </a:r>
            <a:endParaRPr lang="en-US" sz="1400"/>
          </a:p>
          <a:p>
            <a:pPr marL="342900" indent="-342900">
              <a:spcAft>
                <a:spcPts val="800"/>
              </a:spcAft>
              <a:buSzPct val="100000"/>
              <a:buChar char="•"/>
            </a:pPr>
            <a:r>
              <a:rPr lang="en-US" sz="1400">
                <a:solidFill>
                  <a:schemeClr val="bg1"/>
                </a:solidFill>
              </a:rPr>
              <a:t>Lots of signal inside it, very little background</a:t>
            </a:r>
            <a:endParaRPr lang="en-US" sz="1400"/>
          </a:p>
          <a:p>
            <a:pPr marL="342900" indent="-342900">
              <a:spcAft>
                <a:spcPts val="800"/>
              </a:spcAft>
              <a:buSzPct val="100000"/>
              <a:buChar char="•"/>
            </a:pPr>
            <a:r>
              <a:rPr lang="en-US" sz="1400">
                <a:solidFill>
                  <a:schemeClr val="bg1"/>
                </a:solidFill>
              </a:rPr>
              <a:t>Weights matter: a few stray background events can swamp the signal</a:t>
            </a:r>
            <a:endParaRPr lang="en-US" sz="1400"/>
          </a:p>
        </p:txBody>
      </p:sp>
      <p:sp>
        <p:nvSpPr>
          <p:cNvPr id="10" name="Versus circle"/>
          <p:cNvSpPr/>
          <p:nvPr/>
        </p:nvSpPr>
        <p:spPr>
          <a:xfrm>
            <a:off x="4297680" y="2377440"/>
            <a:ext cx="548640" cy="548640"/>
          </a:xfrm>
          <a:prstGeom prst="ellipse">
            <a:avLst/>
          </a:prstGeom>
          <a:solidFill>
            <a:schemeClr val="accent1"/>
          </a:solidFill>
          <a:ln w="25400">
            <a:solidFill>
              <a:schemeClr val="bg1"/>
            </a:solidFill>
            <a:prstDash val="solid"/>
          </a:ln>
        </p:spPr>
        <p:txBody>
          <a:bodyPr/>
          <a:lstStyle/>
          <a:p>
            <a:endParaRPr lang="en-US"/>
          </a:p>
        </p:txBody>
      </p:sp>
      <p:sp>
        <p:nvSpPr>
          <p:cNvPr id="11" name="Versus label"/>
          <p:cNvSpPr txBox="1"/>
          <p:nvPr/>
        </p:nvSpPr>
        <p:spPr>
          <a:xfrm>
            <a:off x="4297680" y="2377440"/>
            <a:ext cx="548640" cy="548640"/>
          </a:xfrm>
          <a:prstGeom prst="rect">
            <a:avLst/>
          </a:prstGeom>
          <a:noFill/>
          <a:ln/>
        </p:spPr>
        <p:txBody>
          <a:bodyPr wrap="square" lIns="0" tIns="0" rIns="0" bIns="0" rtlCol="0" anchor="ctr"/>
          <a:lstStyle/>
          <a:p>
            <a:pPr marL="0" indent="0" algn="ctr">
              <a:buNone/>
            </a:pPr>
            <a:r>
              <a:rPr lang="en-US" sz="1400" b="1">
                <a:solidFill>
                  <a:schemeClr val="tx1"/>
                </a:solidFill>
              </a:rPr>
              <a:t>vs</a:t>
            </a:r>
            <a:endParaRPr lang="en-US" sz="1400"/>
          </a:p>
        </p:txBody>
      </p:sp>
      <p:sp>
        <p:nvSpPr>
          <p:cNvPr id="12" name="Takeaway line"/>
          <p:cNvSpPr txBox="1"/>
          <p:nvPr/>
        </p:nvSpPr>
        <p:spPr>
          <a:xfrm>
            <a:off x="548640" y="4114800"/>
            <a:ext cx="8046720" cy="411480"/>
          </a:xfrm>
          <a:prstGeom prst="rect">
            <a:avLst/>
          </a:prstGeom>
          <a:noFill/>
          <a:ln/>
        </p:spPr>
        <p:txBody>
          <a:bodyPr wrap="square" lIns="0" tIns="0" rIns="0" bIns="0" rtlCol="0" anchor="ctr"/>
          <a:lstStyle/>
          <a:p>
            <a:pPr marL="0" indent="0" algn="ctr">
              <a:buNone/>
            </a:pPr>
            <a:r>
              <a:rPr lang="en-US" sz="1600" b="1" i="1">
                <a:solidFill>
                  <a:schemeClr val="tx1"/>
                </a:solidFill>
              </a:rPr>
              <a:t>AUC asks: does it rank well?   AMS asks: would we claim a discovery?</a:t>
            </a:r>
            <a:endParaRPr lang="en-US" sz="160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822960"/>
          </a:xfrm>
          <a:prstGeom prst="rect">
            <a:avLst/>
          </a:prstGeom>
          <a:noFill/>
          <a:ln/>
        </p:spPr>
        <p:txBody>
          <a:bodyPr wrap="square" lIns="0" tIns="0" rIns="0" bIns="0" rtlCol="0" anchor="ctr"/>
          <a:lstStyle/>
          <a:p>
            <a:pPr marL="0" indent="0" algn="l">
              <a:buNone/>
            </a:pPr>
            <a:r>
              <a:rPr lang="en-US" sz="3400" b="1">
                <a:solidFill>
                  <a:schemeClr val="tx1"/>
                </a:solidFill>
              </a:rPr>
              <a:t>AMS: the score physicists use</a:t>
            </a:r>
            <a:endParaRPr lang="en-US" sz="3400"/>
          </a:p>
        </p:txBody>
      </p:sp>
      <p:sp>
        <p:nvSpPr>
          <p:cNvPr id="4" name="Formula card"/>
          <p:cNvSpPr/>
          <p:nvPr/>
        </p:nvSpPr>
        <p:spPr>
          <a:xfrm>
            <a:off x="548640" y="1325880"/>
            <a:ext cx="8046720" cy="1097280"/>
          </a:xfrm>
          <a:prstGeom prst="roundRect">
            <a:avLst>
              <a:gd name="adj" fmla="val 6667"/>
            </a:avLst>
          </a:prstGeom>
          <a:solidFill>
            <a:schemeClr val="tx1"/>
          </a:solidFill>
          <a:ln w="12700">
            <a:solidFill>
              <a:schemeClr val="tx1"/>
            </a:solidFill>
            <a:prstDash val="solid"/>
          </a:ln>
        </p:spPr>
        <p:txBody>
          <a:bodyPr/>
          <a:lstStyle/>
          <a:p>
            <a:endParaRPr lang="en-US"/>
          </a:p>
        </p:txBody>
      </p:sp>
      <p:sp>
        <p:nvSpPr>
          <p:cNvPr id="5" name="Formula text"/>
          <p:cNvSpPr txBox="1"/>
          <p:nvPr/>
        </p:nvSpPr>
        <p:spPr>
          <a:xfrm>
            <a:off x="548640" y="1325880"/>
            <a:ext cx="8046720" cy="1097280"/>
          </a:xfrm>
          <a:prstGeom prst="rect">
            <a:avLst/>
          </a:prstGeom>
          <a:noFill/>
          <a:ln/>
        </p:spPr>
        <p:txBody>
          <a:bodyPr wrap="square" lIns="0" tIns="0" rIns="0" bIns="0" rtlCol="0" anchor="ctr"/>
          <a:lstStyle/>
          <a:p>
            <a:pPr marL="0" indent="0" algn="ctr">
              <a:buNone/>
            </a:pPr>
            <a:r>
              <a:rPr lang="en-US" sz="4800" b="1">
                <a:solidFill>
                  <a:schemeClr val="bg1"/>
                </a:solidFill>
              </a:rPr>
              <a:t>AMS = s / √b</a:t>
            </a:r>
            <a:endParaRPr lang="en-US" sz="4800"/>
          </a:p>
        </p:txBody>
      </p:sp>
      <p:sp>
        <p:nvSpPr>
          <p:cNvPr id="6" name="Definition card 1"/>
          <p:cNvSpPr/>
          <p:nvPr/>
        </p:nvSpPr>
        <p:spPr>
          <a:xfrm>
            <a:off x="548640" y="2651760"/>
            <a:ext cx="2560320" cy="1371600"/>
          </a:xfrm>
          <a:prstGeom prst="roundRect">
            <a:avLst>
              <a:gd name="adj" fmla="val 5333"/>
            </a:avLst>
          </a:prstGeom>
          <a:solidFill>
            <a:schemeClr val="bg2"/>
          </a:solidFill>
          <a:ln w="12700">
            <a:solidFill>
              <a:schemeClr val="bg2"/>
            </a:solidFill>
            <a:prstDash val="solid"/>
          </a:ln>
        </p:spPr>
        <p:txBody>
          <a:bodyPr/>
          <a:lstStyle/>
          <a:p>
            <a:endParaRPr lang="en-US"/>
          </a:p>
        </p:txBody>
      </p:sp>
      <p:sp>
        <p:nvSpPr>
          <p:cNvPr id="7" name="Definition header 1"/>
          <p:cNvSpPr txBox="1"/>
          <p:nvPr/>
        </p:nvSpPr>
        <p:spPr>
          <a:xfrm>
            <a:off x="731520" y="2743200"/>
            <a:ext cx="2194560" cy="365760"/>
          </a:xfrm>
          <a:prstGeom prst="rect">
            <a:avLst/>
          </a:prstGeom>
          <a:noFill/>
          <a:ln/>
        </p:spPr>
        <p:txBody>
          <a:bodyPr wrap="square" lIns="0" tIns="0" rIns="0" bIns="0" rtlCol="0" anchor="ctr"/>
          <a:lstStyle/>
          <a:p>
            <a:pPr marL="0" indent="0">
              <a:buNone/>
            </a:pPr>
            <a:r>
              <a:rPr lang="en-US" sz="1800" b="1">
                <a:solidFill>
                  <a:schemeClr val="tx1"/>
                </a:solidFill>
              </a:rPr>
              <a:t>s = signal</a:t>
            </a:r>
            <a:endParaRPr lang="en-US" sz="1800"/>
          </a:p>
        </p:txBody>
      </p:sp>
      <p:sp>
        <p:nvSpPr>
          <p:cNvPr id="8" name="Definition body 1"/>
          <p:cNvSpPr txBox="1"/>
          <p:nvPr/>
        </p:nvSpPr>
        <p:spPr>
          <a:xfrm>
            <a:off x="731520" y="3127248"/>
            <a:ext cx="2194560" cy="822960"/>
          </a:xfrm>
          <a:prstGeom prst="rect">
            <a:avLst/>
          </a:prstGeom>
          <a:noFill/>
          <a:ln/>
        </p:spPr>
        <p:txBody>
          <a:bodyPr wrap="square" lIns="0" tIns="0" rIns="0" bIns="0" rtlCol="0" anchor="t"/>
          <a:lstStyle/>
          <a:p>
            <a:pPr marL="0" indent="0">
              <a:buNone/>
            </a:pPr>
            <a:r>
              <a:rPr lang="en-US" sz="1400">
                <a:solidFill>
                  <a:schemeClr val="tx2"/>
                </a:solidFill>
              </a:rPr>
              <a:t>Weighted count of true Higgs collisions that my model selects.</a:t>
            </a:r>
            <a:endParaRPr lang="en-US" sz="1400"/>
          </a:p>
        </p:txBody>
      </p:sp>
      <p:sp>
        <p:nvSpPr>
          <p:cNvPr id="9" name="Definition card 2"/>
          <p:cNvSpPr/>
          <p:nvPr/>
        </p:nvSpPr>
        <p:spPr>
          <a:xfrm>
            <a:off x="3291840" y="2651760"/>
            <a:ext cx="2560320" cy="1371600"/>
          </a:xfrm>
          <a:prstGeom prst="roundRect">
            <a:avLst>
              <a:gd name="adj" fmla="val 5333"/>
            </a:avLst>
          </a:prstGeom>
          <a:solidFill>
            <a:schemeClr val="bg2"/>
          </a:solidFill>
          <a:ln w="12700">
            <a:solidFill>
              <a:schemeClr val="bg2"/>
            </a:solidFill>
            <a:prstDash val="solid"/>
          </a:ln>
        </p:spPr>
        <p:txBody>
          <a:bodyPr/>
          <a:lstStyle/>
          <a:p>
            <a:endParaRPr lang="en-US"/>
          </a:p>
        </p:txBody>
      </p:sp>
      <p:sp>
        <p:nvSpPr>
          <p:cNvPr id="10" name="Definition header 2"/>
          <p:cNvSpPr txBox="1"/>
          <p:nvPr/>
        </p:nvSpPr>
        <p:spPr>
          <a:xfrm>
            <a:off x="3474720" y="2743200"/>
            <a:ext cx="2194560" cy="365760"/>
          </a:xfrm>
          <a:prstGeom prst="rect">
            <a:avLst/>
          </a:prstGeom>
          <a:noFill/>
          <a:ln/>
        </p:spPr>
        <p:txBody>
          <a:bodyPr wrap="square" lIns="0" tIns="0" rIns="0" bIns="0" rtlCol="0" anchor="ctr"/>
          <a:lstStyle/>
          <a:p>
            <a:pPr marL="0" indent="0">
              <a:buNone/>
            </a:pPr>
            <a:r>
              <a:rPr lang="en-US" sz="1800" b="1">
                <a:solidFill>
                  <a:schemeClr val="tx1"/>
                </a:solidFill>
              </a:rPr>
              <a:t>b = background</a:t>
            </a:r>
            <a:endParaRPr lang="en-US" sz="1800"/>
          </a:p>
        </p:txBody>
      </p:sp>
      <p:sp>
        <p:nvSpPr>
          <p:cNvPr id="11" name="Definition body 2"/>
          <p:cNvSpPr txBox="1"/>
          <p:nvPr/>
        </p:nvSpPr>
        <p:spPr>
          <a:xfrm>
            <a:off x="3474720" y="3127248"/>
            <a:ext cx="2194560" cy="822960"/>
          </a:xfrm>
          <a:prstGeom prst="rect">
            <a:avLst/>
          </a:prstGeom>
          <a:noFill/>
          <a:ln/>
        </p:spPr>
        <p:txBody>
          <a:bodyPr wrap="square" lIns="0" tIns="0" rIns="0" bIns="0" rtlCol="0" anchor="t"/>
          <a:lstStyle/>
          <a:p>
            <a:pPr marL="0" indent="0">
              <a:buNone/>
            </a:pPr>
            <a:r>
              <a:rPr lang="en-US" sz="1400">
                <a:solidFill>
                  <a:schemeClr val="tx2"/>
                </a:solidFill>
              </a:rPr>
              <a:t>Weighted count of look-alike collisions that sneak into the selection.</a:t>
            </a:r>
            <a:endParaRPr lang="en-US" sz="1400"/>
          </a:p>
        </p:txBody>
      </p:sp>
      <p:sp>
        <p:nvSpPr>
          <p:cNvPr id="12" name="Definition card 3"/>
          <p:cNvSpPr/>
          <p:nvPr/>
        </p:nvSpPr>
        <p:spPr>
          <a:xfrm>
            <a:off x="6035040" y="2651760"/>
            <a:ext cx="2560320" cy="1371600"/>
          </a:xfrm>
          <a:prstGeom prst="roundRect">
            <a:avLst>
              <a:gd name="adj" fmla="val 5333"/>
            </a:avLst>
          </a:prstGeom>
          <a:solidFill>
            <a:schemeClr val="bg2"/>
          </a:solidFill>
          <a:ln w="12700">
            <a:solidFill>
              <a:schemeClr val="bg2"/>
            </a:solidFill>
            <a:prstDash val="solid"/>
          </a:ln>
        </p:spPr>
        <p:txBody>
          <a:bodyPr/>
          <a:lstStyle/>
          <a:p>
            <a:endParaRPr lang="en-US"/>
          </a:p>
        </p:txBody>
      </p:sp>
      <p:sp>
        <p:nvSpPr>
          <p:cNvPr id="13" name="Definition header 3"/>
          <p:cNvSpPr txBox="1"/>
          <p:nvPr/>
        </p:nvSpPr>
        <p:spPr>
          <a:xfrm>
            <a:off x="6217920" y="2743200"/>
            <a:ext cx="2194560" cy="365760"/>
          </a:xfrm>
          <a:prstGeom prst="rect">
            <a:avLst/>
          </a:prstGeom>
          <a:noFill/>
          <a:ln/>
        </p:spPr>
        <p:txBody>
          <a:bodyPr wrap="square" lIns="0" tIns="0" rIns="0" bIns="0" rtlCol="0" anchor="ctr"/>
          <a:lstStyle/>
          <a:p>
            <a:pPr marL="0" indent="0">
              <a:buNone/>
            </a:pPr>
            <a:r>
              <a:rPr lang="en-US" sz="1800" b="1">
                <a:solidFill>
                  <a:schemeClr val="tx1"/>
                </a:solidFill>
              </a:rPr>
              <a:t>Bigger is better</a:t>
            </a:r>
            <a:endParaRPr lang="en-US" sz="1800"/>
          </a:p>
        </p:txBody>
      </p:sp>
      <p:sp>
        <p:nvSpPr>
          <p:cNvPr id="14" name="Definition body 3"/>
          <p:cNvSpPr txBox="1"/>
          <p:nvPr/>
        </p:nvSpPr>
        <p:spPr>
          <a:xfrm>
            <a:off x="6217920" y="3127248"/>
            <a:ext cx="2194560" cy="822960"/>
          </a:xfrm>
          <a:prstGeom prst="rect">
            <a:avLst/>
          </a:prstGeom>
          <a:noFill/>
          <a:ln/>
        </p:spPr>
        <p:txBody>
          <a:bodyPr wrap="square" lIns="0" tIns="0" rIns="0" bIns="0" rtlCol="0" anchor="t"/>
          <a:lstStyle/>
          <a:p>
            <a:pPr marL="0" indent="0">
              <a:buNone/>
            </a:pPr>
            <a:r>
              <a:rPr lang="en-US" sz="1400">
                <a:solidFill>
                  <a:schemeClr val="tx2"/>
                </a:solidFill>
              </a:rPr>
              <a:t>A higher AMS means stronger evidence. 5 sigma counts as a discovery.</a:t>
            </a:r>
            <a:endParaRPr lang="en-US" sz="1400"/>
          </a:p>
        </p:txBody>
      </p:sp>
      <p:sp>
        <p:nvSpPr>
          <p:cNvPr id="15" name="Full formula caption"/>
          <p:cNvSpPr txBox="1"/>
          <p:nvPr/>
        </p:nvSpPr>
        <p:spPr>
          <a:xfrm>
            <a:off x="548640" y="4114800"/>
            <a:ext cx="7498080" cy="457200"/>
          </a:xfrm>
          <a:prstGeom prst="rect">
            <a:avLst/>
          </a:prstGeom>
          <a:noFill/>
          <a:ln/>
        </p:spPr>
        <p:txBody>
          <a:bodyPr wrap="square" lIns="0" tIns="0" rIns="0" bIns="0" rtlCol="0" anchor="ctr"/>
          <a:lstStyle/>
          <a:p>
            <a:pPr marL="0" indent="0">
              <a:buNone/>
            </a:pPr>
            <a:r>
              <a:rPr lang="en-US" sz="1200">
                <a:solidFill>
                  <a:schemeClr val="tx2"/>
                </a:solidFill>
              </a:rPr>
              <a:t>Challenge version: AMS = √( 2 ( (s + b + b_reg) ln(1 + s / (b + b_reg)) − s ) ), with b_reg = 10. It matches s/√b when s is much smaller than b.</a:t>
            </a:r>
            <a:endParaRPr lang="en-US" sz="120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2486F-B7D3-4521-0404-010D3215E87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3689464-D090-E4CC-204F-864E48016D3E}"/>
              </a:ext>
            </a:extLst>
          </p:cNvPr>
          <p:cNvPicPr>
            <a:picLocks noChangeAspect="1"/>
          </p:cNvPicPr>
          <p:nvPr/>
        </p:nvPicPr>
        <p:blipFill>
          <a:blip r:embed="rId2"/>
          <a:stretch>
            <a:fillRect/>
          </a:stretch>
        </p:blipFill>
        <p:spPr>
          <a:xfrm>
            <a:off x="2818339" y="0"/>
            <a:ext cx="6119893" cy="5143500"/>
          </a:xfrm>
          <a:prstGeom prst="rect">
            <a:avLst/>
          </a:prstGeom>
        </p:spPr>
      </p:pic>
      <p:sp>
        <p:nvSpPr>
          <p:cNvPr id="2" name="Title 1">
            <a:extLst>
              <a:ext uri="{FF2B5EF4-FFF2-40B4-BE49-F238E27FC236}">
                <a16:creationId xmlns:a16="http://schemas.microsoft.com/office/drawing/2014/main" id="{4958FEEC-E5F3-0FAE-9633-903E65114372}"/>
              </a:ext>
            </a:extLst>
          </p:cNvPr>
          <p:cNvSpPr>
            <a:spLocks noGrp="1"/>
          </p:cNvSpPr>
          <p:nvPr>
            <p:ph type="title" idx="100"/>
          </p:nvPr>
        </p:nvSpPr>
        <p:spPr/>
        <p:txBody>
          <a:bodyPr/>
          <a:lstStyle/>
          <a:p>
            <a:r>
              <a:rPr lang="en-US"/>
              <a:t>How the </a:t>
            </a:r>
            <a:br>
              <a:rPr lang="en-US"/>
            </a:br>
            <a:r>
              <a:rPr lang="en-US"/>
              <a:t>features </a:t>
            </a:r>
            <a:br>
              <a:rPr lang="en-US"/>
            </a:br>
            <a:r>
              <a:rPr lang="en-US"/>
              <a:t>were split:</a:t>
            </a:r>
          </a:p>
        </p:txBody>
      </p:sp>
    </p:spTree>
    <p:extLst>
      <p:ext uri="{BB962C8B-B14F-4D97-AF65-F5344CB8AC3E}">
        <p14:creationId xmlns:p14="http://schemas.microsoft.com/office/powerpoint/2010/main" val="28535542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BABA2-5C5E-E307-C0CF-8B25069E17EE}"/>
              </a:ext>
            </a:extLst>
          </p:cNvPr>
          <p:cNvSpPr>
            <a:spLocks noGrp="1"/>
          </p:cNvSpPr>
          <p:nvPr>
            <p:ph type="title" idx="100"/>
          </p:nvPr>
        </p:nvSpPr>
        <p:spPr/>
        <p:txBody>
          <a:bodyPr/>
          <a:lstStyle/>
          <a:p>
            <a:r>
              <a:rPr lang="en-US"/>
              <a:t>Difference in AMS by split</a:t>
            </a:r>
          </a:p>
        </p:txBody>
      </p:sp>
      <p:pic>
        <p:nvPicPr>
          <p:cNvPr id="3" name="Picture 2">
            <a:extLst>
              <a:ext uri="{FF2B5EF4-FFF2-40B4-BE49-F238E27FC236}">
                <a16:creationId xmlns:a16="http://schemas.microsoft.com/office/drawing/2014/main" id="{F4EFC5B1-85F0-BE5D-48BD-64148D88F7E1}"/>
              </a:ext>
            </a:extLst>
          </p:cNvPr>
          <p:cNvPicPr>
            <a:picLocks noChangeAspect="1"/>
          </p:cNvPicPr>
          <p:nvPr/>
        </p:nvPicPr>
        <p:blipFill>
          <a:blip r:embed="rId2"/>
          <a:stretch>
            <a:fillRect/>
          </a:stretch>
        </p:blipFill>
        <p:spPr>
          <a:xfrm>
            <a:off x="2019300" y="1143000"/>
            <a:ext cx="5105400" cy="3733800"/>
          </a:xfrm>
          <a:prstGeom prst="rect">
            <a:avLst/>
          </a:prstGeom>
        </p:spPr>
      </p:pic>
    </p:spTree>
    <p:extLst>
      <p:ext uri="{BB962C8B-B14F-4D97-AF65-F5344CB8AC3E}">
        <p14:creationId xmlns:p14="http://schemas.microsoft.com/office/powerpoint/2010/main" val="9885323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822960"/>
          </a:xfrm>
          <a:prstGeom prst="rect">
            <a:avLst/>
          </a:prstGeom>
          <a:noFill/>
          <a:ln/>
        </p:spPr>
        <p:txBody>
          <a:bodyPr wrap="square" lIns="0" tIns="0" rIns="0" bIns="0" rtlCol="0" anchor="ctr"/>
          <a:lstStyle/>
          <a:p>
            <a:pPr marL="0" indent="0" algn="l">
              <a:buNone/>
            </a:pPr>
            <a:r>
              <a:rPr lang="en-US" sz="3400" b="1">
                <a:solidFill>
                  <a:schemeClr val="tx1"/>
                </a:solidFill>
              </a:rPr>
              <a:t>My AMS curve</a:t>
            </a:r>
            <a:endParaRPr lang="en-US" sz="3400"/>
          </a:p>
        </p:txBody>
      </p:sp>
      <p:sp>
        <p:nvSpPr>
          <p:cNvPr id="5" name="Chart placeholder: my AMS curve label"/>
          <p:cNvSpPr txBox="1"/>
          <p:nvPr/>
        </p:nvSpPr>
        <p:spPr>
          <a:xfrm>
            <a:off x="731520" y="1371600"/>
            <a:ext cx="4754880" cy="3108960"/>
          </a:xfrm>
          <a:prstGeom prst="rect">
            <a:avLst/>
          </a:prstGeom>
          <a:noFill/>
          <a:ln/>
        </p:spPr>
        <p:txBody>
          <a:bodyPr wrap="square" rtlCol="0" anchor="ctr"/>
          <a:lstStyle/>
          <a:p>
            <a:pPr marL="0" indent="0" algn="ctr">
              <a:buNone/>
            </a:pPr>
            <a:r>
              <a:rPr lang="en-US" sz="1400">
                <a:solidFill>
                  <a:schemeClr val="tx2"/>
                </a:solidFill>
              </a:rPr>
              <a:t>[ Insert my AMS curve here ]</a:t>
            </a:r>
            <a:endParaRPr lang="en-US" sz="1400"/>
          </a:p>
        </p:txBody>
      </p:sp>
      <p:sp>
        <p:nvSpPr>
          <p:cNvPr id="6" name="Read header"/>
          <p:cNvSpPr txBox="1"/>
          <p:nvPr/>
        </p:nvSpPr>
        <p:spPr>
          <a:xfrm>
            <a:off x="5989320" y="1371600"/>
            <a:ext cx="2606040" cy="365760"/>
          </a:xfrm>
          <a:prstGeom prst="rect">
            <a:avLst/>
          </a:prstGeom>
          <a:noFill/>
          <a:ln/>
        </p:spPr>
        <p:txBody>
          <a:bodyPr wrap="square" lIns="0" tIns="0" rIns="0" bIns="0" rtlCol="0" anchor="ctr"/>
          <a:lstStyle/>
          <a:p>
            <a:pPr marL="0" indent="0">
              <a:buNone/>
            </a:pPr>
            <a:r>
              <a:rPr lang="en-US" sz="1800" b="1">
                <a:solidFill>
                  <a:schemeClr val="tx1"/>
                </a:solidFill>
              </a:rPr>
              <a:t>How to read it</a:t>
            </a:r>
            <a:endParaRPr lang="en-US" sz="1800"/>
          </a:p>
        </p:txBody>
      </p:sp>
      <p:sp>
        <p:nvSpPr>
          <p:cNvPr id="7" name="Read bullets"/>
          <p:cNvSpPr txBox="1"/>
          <p:nvPr/>
        </p:nvSpPr>
        <p:spPr>
          <a:xfrm>
            <a:off x="5989320" y="1783080"/>
            <a:ext cx="2606040" cy="1554480"/>
          </a:xfrm>
          <a:prstGeom prst="rect">
            <a:avLst/>
          </a:prstGeom>
          <a:noFill/>
          <a:ln/>
        </p:spPr>
        <p:txBody>
          <a:bodyPr wrap="square" lIns="0" tIns="0" rIns="0" bIns="0" rtlCol="0" anchor="t"/>
          <a:lstStyle/>
          <a:p>
            <a:pPr marL="342900" indent="-342900">
              <a:spcAft>
                <a:spcPts val="600"/>
              </a:spcAft>
              <a:buSzPct val="100000"/>
              <a:buChar char="•"/>
            </a:pPr>
            <a:r>
              <a:rPr lang="en-US" sz="1400">
                <a:solidFill>
                  <a:schemeClr val="tx2"/>
                </a:solidFill>
              </a:rPr>
              <a:t>x-axis: how strict my cut is</a:t>
            </a:r>
            <a:endParaRPr lang="en-US" sz="1400"/>
          </a:p>
          <a:p>
            <a:pPr marL="342900" indent="-342900">
              <a:spcAft>
                <a:spcPts val="600"/>
              </a:spcAft>
              <a:buSzPct val="100000"/>
              <a:buChar char="•"/>
            </a:pPr>
            <a:r>
              <a:rPr lang="en-US" sz="1400">
                <a:solidFill>
                  <a:schemeClr val="tx2"/>
                </a:solidFill>
              </a:rPr>
              <a:t>y-axis: AMS at that cut</a:t>
            </a:r>
            <a:endParaRPr lang="en-US" sz="1400"/>
          </a:p>
          <a:p>
            <a:pPr marL="342900" indent="-342900">
              <a:spcAft>
                <a:spcPts val="600"/>
              </a:spcAft>
              <a:buSzPct val="100000"/>
              <a:buChar char="•"/>
            </a:pPr>
            <a:r>
              <a:rPr lang="en-US" sz="1400">
                <a:solidFill>
                  <a:schemeClr val="tx2"/>
                </a:solidFill>
              </a:rPr>
              <a:t>The peak is my best selection region</a:t>
            </a:r>
            <a:endParaRPr lang="en-US" sz="1400"/>
          </a:p>
        </p:txBody>
      </p:sp>
      <p:sp>
        <p:nvSpPr>
          <p:cNvPr id="8" name="Best AMS card"/>
          <p:cNvSpPr/>
          <p:nvPr/>
        </p:nvSpPr>
        <p:spPr>
          <a:xfrm>
            <a:off x="5989320" y="3474720"/>
            <a:ext cx="2606040" cy="1005840"/>
          </a:xfrm>
          <a:prstGeom prst="roundRect">
            <a:avLst>
              <a:gd name="adj" fmla="val 7273"/>
            </a:avLst>
          </a:prstGeom>
          <a:solidFill>
            <a:schemeClr val="tx1"/>
          </a:solidFill>
          <a:ln w="12700">
            <a:solidFill>
              <a:schemeClr val="tx1"/>
            </a:solidFill>
            <a:prstDash val="solid"/>
          </a:ln>
        </p:spPr>
        <p:txBody>
          <a:bodyPr/>
          <a:lstStyle/>
          <a:p>
            <a:endParaRPr lang="en-US"/>
          </a:p>
        </p:txBody>
      </p:sp>
      <p:sp>
        <p:nvSpPr>
          <p:cNvPr id="9" name="Best AMS text"/>
          <p:cNvSpPr txBox="1"/>
          <p:nvPr/>
        </p:nvSpPr>
        <p:spPr>
          <a:xfrm>
            <a:off x="6126480" y="3474720"/>
            <a:ext cx="2377440" cy="1005840"/>
          </a:xfrm>
          <a:prstGeom prst="rect">
            <a:avLst/>
          </a:prstGeom>
          <a:noFill/>
          <a:ln/>
        </p:spPr>
        <p:txBody>
          <a:bodyPr wrap="square" lIns="0" tIns="0" rIns="0" bIns="0" rtlCol="0" anchor="ctr"/>
          <a:lstStyle/>
          <a:p>
            <a:pPr marL="0" indent="0">
              <a:buNone/>
            </a:pPr>
            <a:r>
              <a:rPr lang="en-US" sz="1400" b="1">
                <a:solidFill>
                  <a:schemeClr val="accent1"/>
                </a:solidFill>
              </a:rPr>
              <a:t>My Best AMS: 3.822 </a:t>
            </a:r>
            <a:endParaRPr lang="en-US" sz="1400"/>
          </a:p>
          <a:p>
            <a:pPr marL="0" indent="0">
              <a:buNone/>
            </a:pPr>
            <a:r>
              <a:rPr lang="en-US" sz="1400">
                <a:solidFill>
                  <a:schemeClr val="bg1"/>
                </a:solidFill>
              </a:rPr>
              <a:t>Threshold: 3.85</a:t>
            </a:r>
            <a:endParaRPr lang="en-US" sz="140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13</a:t>
            </a:fld>
            <a:endParaRPr lang="en-US"/>
          </a:p>
        </p:txBody>
      </p:sp>
      <p:pic>
        <p:nvPicPr>
          <p:cNvPr id="12" name="Picture 11">
            <a:extLst>
              <a:ext uri="{FF2B5EF4-FFF2-40B4-BE49-F238E27FC236}">
                <a16:creationId xmlns:a16="http://schemas.microsoft.com/office/drawing/2014/main" id="{6F454EA4-7593-38B0-E054-DB7A14508403}"/>
              </a:ext>
            </a:extLst>
          </p:cNvPr>
          <p:cNvPicPr>
            <a:picLocks noChangeAspect="1"/>
          </p:cNvPicPr>
          <p:nvPr/>
        </p:nvPicPr>
        <p:blipFill>
          <a:blip r:embed="rId3"/>
          <a:stretch>
            <a:fillRect/>
          </a:stretch>
        </p:blipFill>
        <p:spPr>
          <a:xfrm>
            <a:off x="441960" y="1133852"/>
            <a:ext cx="4901194" cy="358445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754D3954-46E6-811F-AA8C-4E9AA88AD93E}"/>
              </a:ext>
            </a:extLst>
          </p:cNvPr>
          <p:cNvPicPr>
            <a:picLocks noChangeAspect="1"/>
          </p:cNvPicPr>
          <p:nvPr/>
        </p:nvPicPr>
        <p:blipFill>
          <a:blip r:embed="rId3"/>
          <a:stretch>
            <a:fillRect/>
          </a:stretch>
        </p:blipFill>
        <p:spPr>
          <a:xfrm>
            <a:off x="1502164" y="704622"/>
            <a:ext cx="6026460" cy="4438878"/>
          </a:xfrm>
          <a:prstGeom prst="rect">
            <a:avLst/>
          </a:prstGeom>
        </p:spPr>
      </p:pic>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14</a:t>
            </a:fld>
            <a:endParaRPr lang="en-US"/>
          </a:p>
        </p:txBody>
      </p:sp>
      <p:sp>
        <p:nvSpPr>
          <p:cNvPr id="13" name="Title 12">
            <a:extLst>
              <a:ext uri="{FF2B5EF4-FFF2-40B4-BE49-F238E27FC236}">
                <a16:creationId xmlns:a16="http://schemas.microsoft.com/office/drawing/2014/main" id="{72D14E4C-F92F-14ED-F917-C3EF721DF3B2}"/>
              </a:ext>
            </a:extLst>
          </p:cNvPr>
          <p:cNvSpPr>
            <a:spLocks noGrp="1"/>
          </p:cNvSpPr>
          <p:nvPr>
            <p:ph type="title" idx="100"/>
          </p:nvPr>
        </p:nvSpPr>
        <p:spPr>
          <a:xfrm>
            <a:off x="492034" y="120059"/>
            <a:ext cx="8046720" cy="822960"/>
          </a:xfrm>
        </p:spPr>
        <p:txBody>
          <a:bodyPr/>
          <a:lstStyle/>
          <a:p>
            <a:r>
              <a:rPr lang="en-US"/>
              <a:t>Previous graphs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8046720" cy="822960"/>
          </a:xfrm>
          <a:prstGeom prst="rect">
            <a:avLst/>
          </a:prstGeom>
          <a:noFill/>
          <a:ln/>
        </p:spPr>
        <p:txBody>
          <a:bodyPr wrap="square" lIns="0" tIns="0" rIns="0" bIns="0" rtlCol="0" anchor="ctr"/>
          <a:lstStyle/>
          <a:p>
            <a:pPr marL="0" indent="0" algn="l">
              <a:buNone/>
            </a:pPr>
            <a:r>
              <a:rPr lang="en-US" sz="3400" b="1">
                <a:solidFill>
                  <a:schemeClr val="bg1"/>
                </a:solidFill>
              </a:rPr>
              <a:t>Takeaways</a:t>
            </a:r>
            <a:endParaRPr lang="en-US" sz="3400"/>
          </a:p>
        </p:txBody>
      </p:sp>
      <p:sp>
        <p:nvSpPr>
          <p:cNvPr id="4" name="Takeaway circle 1"/>
          <p:cNvSpPr/>
          <p:nvPr/>
        </p:nvSpPr>
        <p:spPr>
          <a:xfrm>
            <a:off x="548640" y="1463040"/>
            <a:ext cx="548640" cy="548640"/>
          </a:xfrm>
          <a:prstGeom prst="ellipse">
            <a:avLst/>
          </a:prstGeom>
          <a:solidFill>
            <a:schemeClr val="accent1"/>
          </a:solidFill>
          <a:ln w="12700">
            <a:solidFill>
              <a:schemeClr val="accent1"/>
            </a:solidFill>
            <a:prstDash val="solid"/>
          </a:ln>
        </p:spPr>
        <p:txBody>
          <a:bodyPr/>
          <a:lstStyle/>
          <a:p>
            <a:endParaRPr lang="en-US"/>
          </a:p>
        </p:txBody>
      </p:sp>
      <p:sp>
        <p:nvSpPr>
          <p:cNvPr id="5" name="Takeaway circle 1 number"/>
          <p:cNvSpPr txBox="1"/>
          <p:nvPr/>
        </p:nvSpPr>
        <p:spPr>
          <a:xfrm>
            <a:off x="548640" y="1463040"/>
            <a:ext cx="548640" cy="548640"/>
          </a:xfrm>
          <a:prstGeom prst="rect">
            <a:avLst/>
          </a:prstGeom>
          <a:noFill/>
          <a:ln/>
        </p:spPr>
        <p:txBody>
          <a:bodyPr wrap="square" lIns="0" tIns="0" rIns="0" bIns="0" rtlCol="0" anchor="ctr"/>
          <a:lstStyle/>
          <a:p>
            <a:pPr marL="0" indent="0" algn="ctr">
              <a:buNone/>
            </a:pPr>
            <a:r>
              <a:rPr lang="en-US" sz="1800" b="1">
                <a:solidFill>
                  <a:schemeClr val="tx1"/>
                </a:solidFill>
              </a:rPr>
              <a:t>1</a:t>
            </a:r>
            <a:endParaRPr lang="en-US" sz="1800"/>
          </a:p>
        </p:txBody>
      </p:sp>
      <p:sp>
        <p:nvSpPr>
          <p:cNvPr id="6" name="Takeaway text 1"/>
          <p:cNvSpPr txBox="1"/>
          <p:nvPr/>
        </p:nvSpPr>
        <p:spPr>
          <a:xfrm>
            <a:off x="1325880" y="1417320"/>
            <a:ext cx="7223760" cy="640080"/>
          </a:xfrm>
          <a:prstGeom prst="rect">
            <a:avLst/>
          </a:prstGeom>
          <a:noFill/>
          <a:ln/>
        </p:spPr>
        <p:txBody>
          <a:bodyPr wrap="square" lIns="0" tIns="0" rIns="0" bIns="0" rtlCol="0" anchor="ctr"/>
          <a:lstStyle/>
          <a:p>
            <a:pPr marL="0" indent="0">
              <a:buNone/>
            </a:pPr>
            <a:r>
              <a:rPr lang="en-US" sz="1800">
                <a:solidFill>
                  <a:schemeClr val="bg1"/>
                </a:solidFill>
              </a:rPr>
              <a:t>Higgs searches are needle-in-a-haystack problems: the signal is far rarer than the background.</a:t>
            </a:r>
            <a:endParaRPr lang="en-US" sz="1800"/>
          </a:p>
        </p:txBody>
      </p:sp>
      <p:sp>
        <p:nvSpPr>
          <p:cNvPr id="7" name="Takeaway circle 2"/>
          <p:cNvSpPr/>
          <p:nvPr/>
        </p:nvSpPr>
        <p:spPr>
          <a:xfrm>
            <a:off x="548640" y="2377440"/>
            <a:ext cx="548640" cy="548640"/>
          </a:xfrm>
          <a:prstGeom prst="ellipse">
            <a:avLst/>
          </a:prstGeom>
          <a:solidFill>
            <a:schemeClr val="accent1"/>
          </a:solidFill>
          <a:ln w="12700">
            <a:solidFill>
              <a:schemeClr val="accent1"/>
            </a:solidFill>
            <a:prstDash val="solid"/>
          </a:ln>
        </p:spPr>
        <p:txBody>
          <a:bodyPr/>
          <a:lstStyle/>
          <a:p>
            <a:endParaRPr lang="en-US"/>
          </a:p>
        </p:txBody>
      </p:sp>
      <p:sp>
        <p:nvSpPr>
          <p:cNvPr id="8" name="Takeaway circle 2 number"/>
          <p:cNvSpPr txBox="1"/>
          <p:nvPr/>
        </p:nvSpPr>
        <p:spPr>
          <a:xfrm>
            <a:off x="548640" y="2377440"/>
            <a:ext cx="548640" cy="548640"/>
          </a:xfrm>
          <a:prstGeom prst="rect">
            <a:avLst/>
          </a:prstGeom>
          <a:noFill/>
          <a:ln/>
        </p:spPr>
        <p:txBody>
          <a:bodyPr wrap="square" lIns="0" tIns="0" rIns="0" bIns="0" rtlCol="0" anchor="ctr"/>
          <a:lstStyle/>
          <a:p>
            <a:pPr marL="0" indent="0" algn="ctr">
              <a:buNone/>
            </a:pPr>
            <a:r>
              <a:rPr lang="en-US" sz="1800" b="1">
                <a:solidFill>
                  <a:schemeClr val="tx1"/>
                </a:solidFill>
              </a:rPr>
              <a:t>2</a:t>
            </a:r>
            <a:endParaRPr lang="en-US" sz="1800"/>
          </a:p>
        </p:txBody>
      </p:sp>
      <p:sp>
        <p:nvSpPr>
          <p:cNvPr id="9" name="Takeaway text 2"/>
          <p:cNvSpPr txBox="1"/>
          <p:nvPr/>
        </p:nvSpPr>
        <p:spPr>
          <a:xfrm>
            <a:off x="1325880" y="2331720"/>
            <a:ext cx="7223760" cy="640080"/>
          </a:xfrm>
          <a:prstGeom prst="rect">
            <a:avLst/>
          </a:prstGeom>
          <a:noFill/>
          <a:ln/>
        </p:spPr>
        <p:txBody>
          <a:bodyPr wrap="square" lIns="0" tIns="0" rIns="0" bIns="0" rtlCol="0" anchor="ctr"/>
          <a:lstStyle/>
          <a:p>
            <a:pPr marL="0" indent="0">
              <a:buNone/>
            </a:pPr>
            <a:r>
              <a:rPr lang="en-US" sz="1800">
                <a:solidFill>
                  <a:schemeClr val="bg1"/>
                </a:solidFill>
              </a:rPr>
              <a:t>AUC checks ranking. AMS (s / √b) checks whether a selection could support a discovery.</a:t>
            </a:r>
            <a:endParaRPr lang="en-US" sz="1800"/>
          </a:p>
        </p:txBody>
      </p:sp>
      <p:sp>
        <p:nvSpPr>
          <p:cNvPr id="10" name="Takeaway circle 3"/>
          <p:cNvSpPr/>
          <p:nvPr/>
        </p:nvSpPr>
        <p:spPr>
          <a:xfrm>
            <a:off x="548640" y="3291840"/>
            <a:ext cx="548640" cy="548640"/>
          </a:xfrm>
          <a:prstGeom prst="ellipse">
            <a:avLst/>
          </a:prstGeom>
          <a:solidFill>
            <a:schemeClr val="accent1"/>
          </a:solidFill>
          <a:ln w="12700">
            <a:solidFill>
              <a:schemeClr val="accent1"/>
            </a:solidFill>
            <a:prstDash val="solid"/>
          </a:ln>
        </p:spPr>
        <p:txBody>
          <a:bodyPr/>
          <a:lstStyle/>
          <a:p>
            <a:endParaRPr lang="en-US"/>
          </a:p>
        </p:txBody>
      </p:sp>
      <p:sp>
        <p:nvSpPr>
          <p:cNvPr id="11" name="Takeaway circle 3 number"/>
          <p:cNvSpPr txBox="1"/>
          <p:nvPr/>
        </p:nvSpPr>
        <p:spPr>
          <a:xfrm>
            <a:off x="548640" y="3291840"/>
            <a:ext cx="548640" cy="548640"/>
          </a:xfrm>
          <a:prstGeom prst="rect">
            <a:avLst/>
          </a:prstGeom>
          <a:noFill/>
          <a:ln/>
        </p:spPr>
        <p:txBody>
          <a:bodyPr wrap="square" lIns="0" tIns="0" rIns="0" bIns="0" rtlCol="0" anchor="ctr"/>
          <a:lstStyle/>
          <a:p>
            <a:pPr marL="0" indent="0" algn="ctr">
              <a:buNone/>
            </a:pPr>
            <a:r>
              <a:rPr lang="en-US" sz="1800" b="1">
                <a:solidFill>
                  <a:schemeClr val="tx1"/>
                </a:solidFill>
              </a:rPr>
              <a:t>3</a:t>
            </a:r>
            <a:endParaRPr lang="en-US" sz="1800"/>
          </a:p>
        </p:txBody>
      </p:sp>
      <p:sp>
        <p:nvSpPr>
          <p:cNvPr id="12" name="Takeaway text 3"/>
          <p:cNvSpPr txBox="1"/>
          <p:nvPr/>
        </p:nvSpPr>
        <p:spPr>
          <a:xfrm>
            <a:off x="1325880" y="3246120"/>
            <a:ext cx="7223760" cy="640080"/>
          </a:xfrm>
          <a:prstGeom prst="rect">
            <a:avLst/>
          </a:prstGeom>
          <a:noFill/>
          <a:ln/>
        </p:spPr>
        <p:txBody>
          <a:bodyPr wrap="square" lIns="0" tIns="0" rIns="0" bIns="0" rtlCol="0" anchor="ctr"/>
          <a:lstStyle/>
          <a:p>
            <a:pPr marL="0" indent="0">
              <a:buNone/>
            </a:pPr>
            <a:r>
              <a:rPr lang="en-US" sz="1800">
                <a:solidFill>
                  <a:schemeClr val="bg1"/>
                </a:solidFill>
              </a:rPr>
              <a:t>Next: tune the threshold to push AMS higher and check it against published results.</a:t>
            </a:r>
            <a:endParaRPr lang="en-US" sz="1800"/>
          </a:p>
        </p:txBody>
      </p:sp>
      <p:sp>
        <p:nvSpPr>
          <p:cNvPr id="13" name="Questions"/>
          <p:cNvSpPr txBox="1"/>
          <p:nvPr/>
        </p:nvSpPr>
        <p:spPr>
          <a:xfrm>
            <a:off x="548640" y="4206240"/>
            <a:ext cx="4572000" cy="457200"/>
          </a:xfrm>
          <a:prstGeom prst="rect">
            <a:avLst/>
          </a:prstGeom>
          <a:noFill/>
          <a:ln/>
        </p:spPr>
        <p:txBody>
          <a:bodyPr wrap="square" lIns="0" tIns="0" rIns="0" bIns="0" rtlCol="0" anchor="ctr"/>
          <a:lstStyle/>
          <a:p>
            <a:pPr marL="0" indent="0">
              <a:buNone/>
            </a:pPr>
            <a:r>
              <a:rPr lang="en-US" sz="2400" b="1">
                <a:solidFill>
                  <a:schemeClr val="accent1"/>
                </a:solidFill>
              </a:rPr>
              <a:t>Questions?</a:t>
            </a:r>
            <a:endParaRPr lang="en-US" sz="240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15</a:t>
            </a:fld>
            <a:endParaRPr lang="en-US"/>
          </a:p>
        </p:txBody>
      </p:sp>
    </p:spTree>
  </p:cSld>
  <p:clrMapOvr>
    <a:masterClrMapping/>
  </p:clrMapOvr>
</p:sld>
</file>

<file path=ppt/theme/theme1.xml><?xml version="1.0" encoding="utf-8"?>
<a:theme xmlns:a="http://schemas.openxmlformats.org/drawingml/2006/main" name="Higgs Hunt">
  <a:themeElements>
    <a:clrScheme name="Higgs Hunt">
      <a:dk1>
        <a:srgbClr val="0B1B3A"/>
      </a:dk1>
      <a:lt1>
        <a:srgbClr val="FFFFFF"/>
      </a:lt1>
      <a:dk2>
        <a:srgbClr val="3A4A6B"/>
      </a:dk2>
      <a:lt2>
        <a:srgbClr val="EEF2F9"/>
      </a:lt2>
      <a:accent1>
        <a:srgbClr val="FF7A1A"/>
      </a:accent1>
      <a:accent2>
        <a:srgbClr val="1FB5A8"/>
      </a:accent2>
      <a:accent3>
        <a:srgbClr val="5B6CFF"/>
      </a:accent3>
      <a:accent4>
        <a:srgbClr val="E5484D"/>
      </a:accent4>
      <a:accent5>
        <a:srgbClr val="F5B700"/>
      </a:accent5>
      <a:accent6>
        <a:srgbClr val="8895B3"/>
      </a:accent6>
      <a:hlink>
        <a:srgbClr val="5B6CFF"/>
      </a:hlink>
      <a:folHlink>
        <a:srgbClr val="8895B3"/>
      </a:folHlink>
    </a:clrScheme>
    <a:fontScheme name="Higgs Hun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1945</Words>
  <Application>Microsoft Office PowerPoint</Application>
  <PresentationFormat>On-screen Show (16:9)</PresentationFormat>
  <Paragraphs>155</Paragraphs>
  <Slides>15</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Higgs Hunt</vt:lpstr>
      <vt:lpstr>Hunting the Higgs with Machine Learning</vt:lpstr>
      <vt:lpstr>What is the Higgs boson?</vt:lpstr>
      <vt:lpstr>Where the data comes from</vt:lpstr>
      <vt:lpstr>A needle in a haystack</vt:lpstr>
      <vt:lpstr>The signal and its look-alikes</vt:lpstr>
      <vt:lpstr>The Challenge dataset</vt:lpstr>
      <vt:lpstr>My approach</vt:lpstr>
      <vt:lpstr>My ROC curve</vt:lpstr>
      <vt:lpstr>Why AUC is not the whole story</vt:lpstr>
      <vt:lpstr>AMS: the score physicists use</vt:lpstr>
      <vt:lpstr>How the  features  were split:</vt:lpstr>
      <vt:lpstr>Difference in AMS by split</vt:lpstr>
      <vt:lpstr>My AMS curve</vt:lpstr>
      <vt:lpstr>Previous graphs </vt:lpstr>
      <vt:lpstr>Takeaways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Hunting the Higgs with Machine Learning</dc:title>
  <dc:subject>PptxGenJS Presentation</dc:subject>
  <dc:creator/>
  <cp:lastModifiedBy>Carmine, Emerson</cp:lastModifiedBy>
  <cp:revision>10</cp:revision>
  <dcterms:created xsi:type="dcterms:W3CDTF">2026-10-05T18:36:12Z</dcterms:created>
  <dcterms:modified xsi:type="dcterms:W3CDTF">2026-10-16T02:50:09Z</dcterms:modified>
</cp:coreProperties>
</file>